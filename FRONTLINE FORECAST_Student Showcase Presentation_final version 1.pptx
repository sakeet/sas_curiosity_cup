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notesSlides/notesSlide1.xml" ContentType="application/vnd.openxmlformats-officedocument.presentationml.notesSlide+xml"/>
  <Override PartName="/ppt/tags/tag1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Lst>
  <p:notesMasterIdLst>
    <p:notesMasterId r:id="rId18"/>
  </p:notesMasterIdLst>
  <p:handoutMasterIdLst>
    <p:handoutMasterId r:id="rId19"/>
  </p:handoutMasterIdLst>
  <p:sldIdLst>
    <p:sldId id="2147477436" r:id="rId5"/>
    <p:sldId id="2147477437" r:id="rId6"/>
    <p:sldId id="2147477432" r:id="rId7"/>
    <p:sldId id="2147477434" r:id="rId8"/>
    <p:sldId id="2147477433" r:id="rId9"/>
    <p:sldId id="2147477441" r:id="rId10"/>
    <p:sldId id="2147477442" r:id="rId11"/>
    <p:sldId id="2147477449" r:id="rId12"/>
    <p:sldId id="2147477444" r:id="rId13"/>
    <p:sldId id="2147477448" r:id="rId14"/>
    <p:sldId id="2147477446" r:id="rId15"/>
    <p:sldId id="2147477435" r:id="rId16"/>
    <p:sldId id="2147477440" r:id="rId17"/>
  </p:sldIdLst>
  <p:sldSz cx="18288000" cy="10287000"/>
  <p:notesSz cx="6858000" cy="9144000"/>
  <p:embeddedFontLst>
    <p:embeddedFont>
      <p:font typeface="Anova Bold" panose="020B0604020202020204" charset="0"/>
      <p:bold r:id="rId20"/>
      <p:italic r:id="rId21"/>
      <p:boldItalic r:id="rId22"/>
    </p:embeddedFont>
    <p:embeddedFont>
      <p:font typeface="Anova Light" panose="020B0604020202020204" charset="0"/>
      <p:regular r:id="rId23"/>
      <p:italic r:id="rId24"/>
    </p:embeddedFont>
    <p:embeddedFont>
      <p:font typeface="Calibri" panose="020F0502020204030204" pitchFamily="34" charset="0"/>
      <p:regular r:id="rId25"/>
      <p:bold r:id="rId26"/>
      <p:italic r:id="rId27"/>
      <p:boldItalic r:id="rId28"/>
    </p:embeddedFont>
  </p:embeddedFontLst>
  <p:custDataLst>
    <p:tags r:id="rId29"/>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C3829F-2C56-4915-AA34-5F93EE359221}">
          <p14:sldIdLst>
            <p14:sldId id="2147477436"/>
            <p14:sldId id="2147477437"/>
            <p14:sldId id="2147477432"/>
            <p14:sldId id="2147477434"/>
            <p14:sldId id="2147477433"/>
            <p14:sldId id="2147477441"/>
            <p14:sldId id="2147477442"/>
            <p14:sldId id="2147477449"/>
            <p14:sldId id="2147477444"/>
            <p14:sldId id="2147477448"/>
            <p14:sldId id="2147477446"/>
            <p14:sldId id="2147477435"/>
            <p14:sldId id="214747744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386" autoAdjust="0"/>
    <p:restoredTop sz="49189" autoAdjust="0"/>
  </p:normalViewPr>
  <p:slideViewPr>
    <p:cSldViewPr snapToGrid="0">
      <p:cViewPr varScale="1">
        <p:scale>
          <a:sx n="22" d="100"/>
          <a:sy n="22" d="100"/>
        </p:scale>
        <p:origin x="1640"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7" d="100"/>
          <a:sy n="117" d="100"/>
        </p:scale>
        <p:origin x="5160"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handoutMaster" Target="handoutMasters/handoutMaster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3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Dau" userId="12f0a1ec-c63c-40e1-af69-0a43c8671472" providerId="ADAL" clId="{453A3F55-188F-4EF7-B38F-B5F30839E587}"/>
    <pc:docChg chg="modSld">
      <pc:chgData name="Kate Dau" userId="12f0a1ec-c63c-40e1-af69-0a43c8671472" providerId="ADAL" clId="{453A3F55-188F-4EF7-B38F-B5F30839E587}" dt="2026-04-24T00:48:52.753" v="2" actId="114"/>
      <pc:docMkLst>
        <pc:docMk/>
      </pc:docMkLst>
      <pc:sldChg chg="modNotesTx">
        <pc:chgData name="Kate Dau" userId="12f0a1ec-c63c-40e1-af69-0a43c8671472" providerId="ADAL" clId="{453A3F55-188F-4EF7-B38F-B5F30839E587}" dt="2026-04-24T00:48:52.753" v="2" actId="114"/>
        <pc:sldMkLst>
          <pc:docMk/>
          <pc:sldMk cId="1751081184" sldId="2147477440"/>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6" name="TextBox 2">
            <a:extLst>
              <a:ext uri="{FF2B5EF4-FFF2-40B4-BE49-F238E27FC236}">
                <a16:creationId xmlns:a16="http://schemas.microsoft.com/office/drawing/2014/main" id="{FDEF6B2A-6211-F846-C47F-DC10CAA8C891}"/>
              </a:ext>
            </a:extLst>
          </p:cNvPr>
          <p:cNvSpPr txBox="1"/>
          <p:nvPr/>
        </p:nvSpPr>
        <p:spPr>
          <a:xfrm>
            <a:off x="2493335" y="8717132"/>
            <a:ext cx="1871330" cy="246221"/>
          </a:xfrm>
          <a:prstGeom prst="rect">
            <a:avLst/>
          </a:prstGeom>
          <a:noFill/>
        </p:spPr>
        <p:txBody>
          <a:bodyPr wrap="square" rtlCol="0" anchor="ctr">
            <a:spAutoFit/>
          </a:bodyPr>
          <a:lstStyle/>
          <a:p>
            <a:pPr algn="ctr" defTabSz="182880"/>
            <a:fld id="{C4EF46A2-9381-4C51-8277-3C7F2938E9F9}" type="slidenum">
              <a:rPr lang="en-US" sz="1000">
                <a:solidFill>
                  <a:schemeClr val="accent4"/>
                </a:solidFill>
                <a:latin typeface="+mj-lt"/>
              </a:rPr>
              <a:pPr/>
              <a:t>‹#›</a:t>
            </a:fld>
            <a:endParaRPr lang="en-US" sz="1000" b="1" dirty="0">
              <a:solidFill>
                <a:schemeClr val="accent4"/>
              </a:solidFill>
              <a:latin typeface="+mj-lt"/>
            </a:endParaRPr>
          </a:p>
        </p:txBody>
      </p:sp>
      <p:pic>
        <p:nvPicPr>
          <p:cNvPr id="7" name="Innovate Logo">
            <a:extLst>
              <a:ext uri="{FF2B5EF4-FFF2-40B4-BE49-F238E27FC236}">
                <a16:creationId xmlns:a16="http://schemas.microsoft.com/office/drawing/2014/main" id="{3B423C95-8827-65AD-D8E4-A9D17335A2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497627" y="8692401"/>
            <a:ext cx="1108805" cy="295681"/>
          </a:xfrm>
          <a:prstGeom prst="rect">
            <a:avLst/>
          </a:prstGeom>
        </p:spPr>
      </p:pic>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nnovate Logo">
            <a:extLst>
              <a:ext uri="{FF2B5EF4-FFF2-40B4-BE49-F238E27FC236}">
                <a16:creationId xmlns:a16="http://schemas.microsoft.com/office/drawing/2014/main" id="{48B6EF21-956E-EE01-719A-6EFD0353D1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97627" y="8692401"/>
            <a:ext cx="1108805" cy="295681"/>
          </a:xfrm>
          <a:prstGeom prst="rect">
            <a:avLst/>
          </a:prstGeom>
        </p:spPr>
      </p:pic>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6" name="TextBox 2">
            <a:extLst>
              <a:ext uri="{FF2B5EF4-FFF2-40B4-BE49-F238E27FC236}">
                <a16:creationId xmlns:a16="http://schemas.microsoft.com/office/drawing/2014/main" id="{F607DE50-086C-7432-5C71-ADF401D86D53}"/>
              </a:ext>
            </a:extLst>
          </p:cNvPr>
          <p:cNvSpPr txBox="1"/>
          <p:nvPr/>
        </p:nvSpPr>
        <p:spPr>
          <a:xfrm>
            <a:off x="2493335" y="8717132"/>
            <a:ext cx="1871330" cy="246221"/>
          </a:xfrm>
          <a:prstGeom prst="rect">
            <a:avLst/>
          </a:prstGeom>
          <a:noFill/>
        </p:spPr>
        <p:txBody>
          <a:bodyPr wrap="square" rtlCol="0" anchor="ctr">
            <a:spAutoFit/>
          </a:bodyPr>
          <a:lstStyle/>
          <a:p>
            <a:pPr algn="ctr" defTabSz="182880"/>
            <a:fld id="{C4EF46A2-9381-4C51-8277-3C7F2938E9F9}" type="slidenum">
              <a:rPr lang="en-US" sz="1000" smtClean="0">
                <a:solidFill>
                  <a:schemeClr val="tx2"/>
                </a:solidFill>
                <a:latin typeface="+mj-lt"/>
              </a:rPr>
              <a:pPr/>
              <a:t>‹#›</a:t>
            </a:fld>
            <a:endParaRPr lang="en-US" sz="1000" b="1" dirty="0">
              <a:solidFill>
                <a:schemeClr val="tx2"/>
              </a:solidFill>
              <a:latin typeface="+mj-lt"/>
            </a:endParaRP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828800" rtl="0" eaLnBrk="1" fontAlgn="auto" latinLnBrk="0" hangingPunct="1">
              <a:lnSpc>
                <a:spcPct val="100000"/>
              </a:lnSpc>
              <a:spcBef>
                <a:spcPts val="0"/>
              </a:spcBef>
              <a:spcAft>
                <a:spcPts val="0"/>
              </a:spcAft>
              <a:buClr>
                <a:schemeClr val="accent5"/>
              </a:buClr>
              <a:buSzTx/>
              <a:buFont typeface="Anova Light" panose="020B0403020203020204" pitchFamily="34" charset="0"/>
              <a:buNone/>
              <a:tabLst/>
              <a:defRPr/>
            </a:pPr>
            <a:r>
              <a:rPr lang="en-US" dirty="0"/>
              <a:t>Hello everyone, we’re </a:t>
            </a:r>
            <a:r>
              <a:rPr lang="en-US" i="1" dirty="0"/>
              <a:t>Frontline Forecast</a:t>
            </a:r>
            <a:r>
              <a:rPr lang="en-US" dirty="0"/>
              <a:t> from the University of North Texas.</a:t>
            </a:r>
            <a:br>
              <a:rPr lang="en-US" dirty="0"/>
            </a:br>
            <a:r>
              <a:rPr lang="en-US" dirty="0"/>
              <a:t>My name is ……., and these are my teammate……</a:t>
            </a:r>
            <a:br>
              <a:rPr lang="en-US" dirty="0"/>
            </a:br>
            <a:r>
              <a:rPr lang="en-US" dirty="0"/>
              <a:t>and we’d also like to thank Professor Fathi for guiding this project.</a:t>
            </a:r>
          </a:p>
        </p:txBody>
      </p:sp>
    </p:spTree>
    <p:extLst>
      <p:ext uri="{BB962C8B-B14F-4D97-AF65-F5344CB8AC3E}">
        <p14:creationId xmlns:p14="http://schemas.microsoft.com/office/powerpoint/2010/main" val="2023348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Quick question — just think to yourself…</a:t>
            </a:r>
          </a:p>
          <a:p>
            <a:pPr marL="0" indent="0">
              <a:buNone/>
            </a:pPr>
            <a:r>
              <a:rPr lang="en-US" dirty="0"/>
              <a:t>how many of you have ever gone to the ER…</a:t>
            </a:r>
            <a:br>
              <a:rPr lang="en-US" dirty="0"/>
            </a:br>
            <a:r>
              <a:rPr lang="en-US" dirty="0"/>
              <a:t>and then later looked at the bill and thought: ‘Wow, I should’ve just stayed sick.’</a:t>
            </a:r>
          </a:p>
          <a:p>
            <a:pPr marL="0" indent="0">
              <a:buNone/>
            </a:pPr>
            <a:endParaRPr lang="en-US" sz="2400" b="0" i="1" kern="1200" dirty="0">
              <a:solidFill>
                <a:schemeClr val="tx1"/>
              </a:solidFill>
              <a:effectLst/>
              <a:latin typeface="+mn-lt"/>
              <a:ea typeface="+mn-ea"/>
              <a:cs typeface="+mn-cs"/>
            </a:endParaRPr>
          </a:p>
          <a:p>
            <a:pPr marL="0" indent="0">
              <a:buNone/>
            </a:pPr>
            <a:r>
              <a:rPr lang="en-US" dirty="0"/>
              <a:t>Or maybe this —</a:t>
            </a:r>
            <a:br>
              <a:rPr lang="en-US" dirty="0"/>
            </a:br>
            <a:r>
              <a:rPr lang="en-US" dirty="0"/>
              <a:t>you’re sitting in the waiting room…</a:t>
            </a:r>
            <a:br>
              <a:rPr lang="en-US" dirty="0"/>
            </a:br>
            <a:r>
              <a:rPr lang="en-US" dirty="0"/>
              <a:t>it’s been an hour… maybe two… ..and you start wondering —</a:t>
            </a:r>
            <a:br>
              <a:rPr lang="en-US" dirty="0"/>
            </a:br>
            <a:r>
              <a:rPr lang="en-US" dirty="0"/>
              <a:t>‘Did they forget me… or did I accidentally check into a hotel?’</a:t>
            </a:r>
          </a:p>
          <a:p>
            <a:pPr marL="0" indent="0">
              <a:buNone/>
            </a:pPr>
            <a:endParaRPr lang="en-US" sz="2400" b="0" i="1" kern="1200" dirty="0">
              <a:solidFill>
                <a:schemeClr val="tx1"/>
              </a:solidFill>
              <a:effectLst/>
              <a:latin typeface="+mn-lt"/>
              <a:ea typeface="+mn-ea"/>
              <a:cs typeface="+mn-cs"/>
            </a:endParaRPr>
          </a:p>
          <a:p>
            <a:pPr marL="0" indent="0">
              <a:buNone/>
            </a:pPr>
            <a:r>
              <a:rPr lang="en-US" dirty="0"/>
              <a:t>And here’s the funny part —</a:t>
            </a:r>
            <a:br>
              <a:rPr lang="en-US" dirty="0"/>
            </a:br>
            <a:r>
              <a:rPr lang="en-US" dirty="0"/>
              <a:t>a lot of times, it’s not because hospitals don’t care…</a:t>
            </a:r>
            <a:br>
              <a:rPr lang="en-US" dirty="0"/>
            </a:br>
            <a:r>
              <a:rPr lang="en-US" dirty="0"/>
              <a:t>and it’s not even because they don’t have enough staff or beds </a:t>
            </a:r>
            <a:r>
              <a:rPr lang="en-US" dirty="0">
                <a:sym typeface="Wingdings" panose="05000000000000000000" pitchFamily="2" charset="2"/>
              </a:rPr>
              <a:t> </a:t>
            </a:r>
            <a:r>
              <a:rPr lang="en-US" b="1" dirty="0"/>
              <a:t>It’s because they don’t know… how long patients are going to stay</a:t>
            </a:r>
          </a:p>
          <a:p>
            <a:pPr marL="0" indent="0">
              <a:buNone/>
            </a:pPr>
            <a:endParaRPr lang="en-US" sz="2400" b="1" i="1" kern="1200" dirty="0">
              <a:solidFill>
                <a:schemeClr val="tx1"/>
              </a:solidFill>
              <a:effectLst/>
              <a:latin typeface="+mn-lt"/>
              <a:ea typeface="+mn-ea"/>
              <a:cs typeface="+mn-cs"/>
            </a:endParaRPr>
          </a:p>
          <a:p>
            <a:pPr marL="0" indent="0">
              <a:buNone/>
            </a:pPr>
            <a:r>
              <a:rPr lang="en-US" dirty="0"/>
              <a:t>And when that estimate is off — even by just one day —everything starts to break down:</a:t>
            </a:r>
            <a:br>
              <a:rPr lang="en-US" dirty="0"/>
            </a:br>
            <a:r>
              <a:rPr lang="en-US" b="1" dirty="0"/>
              <a:t>overcrowding, delays, and wasted resources</a:t>
            </a:r>
            <a:r>
              <a:rPr lang="en-US" dirty="0"/>
              <a:t>.</a:t>
            </a:r>
          </a:p>
          <a:p>
            <a:pPr marL="0" indent="0">
              <a:buNone/>
            </a:pPr>
            <a:endParaRPr lang="en-US" dirty="0"/>
          </a:p>
          <a:p>
            <a:pPr marL="0" indent="0">
              <a:buNone/>
            </a:pPr>
            <a:r>
              <a:rPr lang="en-US" dirty="0"/>
              <a:t>So even small estimation errors can quickly turn into system-wide problems.</a:t>
            </a:r>
          </a:p>
          <a:p>
            <a:pPr marL="0" indent="0">
              <a:buNone/>
            </a:pPr>
            <a:endParaRPr lang="en-US" sz="2400" b="1" i="1" kern="1200" dirty="0">
              <a:solidFill>
                <a:schemeClr val="tx1"/>
              </a:solidFill>
              <a:effectLst/>
              <a:latin typeface="+mn-lt"/>
              <a:ea typeface="+mn-ea"/>
              <a:cs typeface="+mn-cs"/>
            </a:endParaRPr>
          </a:p>
          <a:p>
            <a:pPr marL="0" indent="0">
              <a:buNone/>
            </a:pPr>
            <a:r>
              <a:rPr lang="en-US" dirty="0"/>
              <a:t>Instead of asking, ‘How do we add more resources?’</a:t>
            </a:r>
            <a:br>
              <a:rPr lang="en-US" dirty="0"/>
            </a:br>
            <a:r>
              <a:rPr lang="en-US" dirty="0"/>
              <a:t>we asked a different question</a:t>
            </a:r>
            <a:r>
              <a:rPr lang="en-US" sz="2400" b="1" i="1" kern="1200" dirty="0">
                <a:solidFill>
                  <a:schemeClr val="tx1"/>
                </a:solidFill>
                <a:effectLst/>
                <a:latin typeface="+mn-lt"/>
                <a:ea typeface="+mn-ea"/>
                <a:cs typeface="+mn-cs"/>
              </a:rPr>
              <a:t>: </a:t>
            </a:r>
            <a:r>
              <a:rPr lang="en-US" b="1" dirty="0"/>
              <a:t>What if we could just make better decisions… with the data we already have?</a:t>
            </a:r>
          </a:p>
          <a:p>
            <a:pPr marL="0" indent="0">
              <a:buNone/>
            </a:pPr>
            <a:r>
              <a:rPr lang="en-US" b="1" dirty="0">
                <a:sym typeface="Wingdings" panose="05000000000000000000" pitchFamily="2" charset="2"/>
              </a:rPr>
              <a:t> </a:t>
            </a:r>
            <a:r>
              <a:rPr lang="en-US" b="1" dirty="0"/>
              <a:t>That’s exactly what our project is about</a:t>
            </a:r>
          </a:p>
          <a:p>
            <a:pPr marL="0" indent="0">
              <a:buNone/>
            </a:pPr>
            <a:endParaRPr lang="en-US" sz="2400" b="1" i="1"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755942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To answer that, we worked with a dataset of over </a:t>
            </a:r>
            <a:r>
              <a:rPr lang="en-US" b="1" dirty="0"/>
              <a:t>100K patients across 130 hospitals</a:t>
            </a:r>
            <a:r>
              <a:rPr lang="en-US" dirty="0"/>
              <a:t>, combining three types of information:</a:t>
            </a:r>
          </a:p>
          <a:p>
            <a:r>
              <a:rPr lang="en-US" dirty="0"/>
              <a:t>who the patient is, </a:t>
            </a:r>
          </a:p>
          <a:p>
            <a:r>
              <a:rPr lang="en-US" dirty="0"/>
              <a:t>their clinical condition, </a:t>
            </a:r>
          </a:p>
          <a:p>
            <a:r>
              <a:rPr lang="en-US" dirty="0"/>
              <a:t>and how they use hospital services.</a:t>
            </a:r>
          </a:p>
          <a:p>
            <a:pPr marL="0" indent="0" fontAlgn="t">
              <a:buNone/>
            </a:pPr>
            <a:endParaRPr lang="en-US" sz="2400" b="0" i="1" kern="1200" dirty="0">
              <a:solidFill>
                <a:schemeClr val="tx1"/>
              </a:solidFill>
              <a:effectLst/>
              <a:latin typeface="+mn-lt"/>
              <a:ea typeface="+mn-ea"/>
              <a:cs typeface="+mn-cs"/>
            </a:endParaRPr>
          </a:p>
          <a:p>
            <a:pPr marL="0" indent="0" fontAlgn="t">
              <a:buNone/>
            </a:pPr>
            <a:r>
              <a:rPr lang="en-US" dirty="0"/>
              <a:t>We used a set of approaches to improve both </a:t>
            </a:r>
            <a:r>
              <a:rPr lang="en-US" b="1" dirty="0"/>
              <a:t>prediction accuracy </a:t>
            </a:r>
            <a:r>
              <a:rPr lang="en-US" dirty="0"/>
              <a:t>and make the results more useful for decision-making</a:t>
            </a:r>
          </a:p>
          <a:p>
            <a:pPr marL="342900" indent="-342900" fontAlgn="t"/>
            <a:r>
              <a:rPr lang="en-US" dirty="0"/>
              <a:t>First, we predict how long a patient will stay — so hospitals have a baseline estimate.</a:t>
            </a:r>
          </a:p>
          <a:p>
            <a:pPr marL="342900" indent="-342900" fontAlgn="t"/>
            <a:r>
              <a:rPr lang="en-US" dirty="0"/>
              <a:t>Then, we classify patients into short or long stays, which helps prioritize attention</a:t>
            </a:r>
          </a:p>
          <a:p>
            <a:pPr marL="342900" indent="-342900" fontAlgn="t"/>
            <a:r>
              <a:rPr lang="en-US" dirty="0"/>
              <a:t>But in real life, one number is not enough, So instead of saying ‘this patient will stay 3 days, we provide a </a:t>
            </a:r>
            <a:r>
              <a:rPr lang="en-US" b="1" dirty="0"/>
              <a:t>range</a:t>
            </a:r>
            <a:r>
              <a:rPr lang="en-US" dirty="0"/>
              <a:t>, like 2 to 6 days —</a:t>
            </a:r>
            <a:br>
              <a:rPr lang="en-US" dirty="0"/>
            </a:br>
            <a:r>
              <a:rPr lang="en-US" dirty="0"/>
              <a:t>similar to a weather forecast.</a:t>
            </a:r>
          </a:p>
          <a:p>
            <a:pPr marL="342900" indent="-342900" fontAlgn="t"/>
            <a:r>
              <a:rPr lang="en-US" dirty="0"/>
              <a:t>And finally, we simulate real-world scenarios to see how these predictions affect hospital operations</a:t>
            </a:r>
            <a:endParaRPr lang="en-US" sz="2400" b="0" i="1" kern="1200" dirty="0">
              <a:solidFill>
                <a:schemeClr val="tx1"/>
              </a:solidFill>
              <a:effectLst/>
              <a:latin typeface="+mn-lt"/>
              <a:ea typeface="+mn-ea"/>
              <a:cs typeface="+mn-cs"/>
            </a:endParaRPr>
          </a:p>
          <a:p>
            <a:pPr marL="0" indent="0" fontAlgn="t">
              <a:buNone/>
            </a:pPr>
            <a:endParaRPr lang="en-US" dirty="0"/>
          </a:p>
          <a:p>
            <a:pPr marL="0" indent="0" fontAlgn="t">
              <a:buNone/>
            </a:pPr>
            <a:r>
              <a:rPr lang="en-US" dirty="0">
                <a:sym typeface="Wingdings" panose="05000000000000000000" pitchFamily="2" charset="2"/>
              </a:rPr>
              <a:t></a:t>
            </a:r>
            <a:r>
              <a:rPr lang="en-US" dirty="0"/>
              <a:t>So the goal is not just to predict…but to provide information that hospitals can actually act on</a:t>
            </a:r>
            <a:endParaRPr lang="en-US" sz="2400" b="0" i="1"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28309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"Alright, so let's talk about what our models actually produced."</a:t>
            </a:r>
            <a:endParaRPr lang="en-US" dirty="0"/>
          </a:p>
          <a:p>
            <a:r>
              <a:rPr lang="en-US" dirty="0"/>
              <a:t>We tested two things. First, can we </a:t>
            </a:r>
            <a:r>
              <a:rPr lang="en-US" b="1" dirty="0"/>
              <a:t>predict exactly how many days</a:t>
            </a:r>
            <a:r>
              <a:rPr lang="en-US" dirty="0"/>
              <a:t> a patient will stay? And second, can we simply </a:t>
            </a:r>
            <a:r>
              <a:rPr lang="en-US" b="1" dirty="0"/>
              <a:t>flag patients who will stay 3 days or longer?</a:t>
            </a:r>
            <a:endParaRPr lang="en-US" dirty="0"/>
          </a:p>
          <a:p>
            <a:r>
              <a:rPr lang="en-US" dirty="0"/>
              <a:t>For the prediction side, you can see the bar chart on the left. Lower is better here. Linear Regression gave us an error of 1.88 days, Poisson was slightly worse at 1.94. Our Neural Network improved that to 1.63 days, and our best model — </a:t>
            </a:r>
            <a:r>
              <a:rPr lang="en-US" b="1" dirty="0" err="1"/>
              <a:t>LightGBM</a:t>
            </a:r>
            <a:r>
              <a:rPr lang="en-US" dirty="0"/>
              <a:t> — got it down to just </a:t>
            </a:r>
            <a:r>
              <a:rPr lang="en-US" b="1" dirty="0"/>
              <a:t>1.60 days on average</a:t>
            </a:r>
            <a:r>
              <a:rPr lang="en-US" dirty="0"/>
              <a:t>. So in practice, our best model is only off by about a day and a half, which is quite good given how unpredictable hospital stays can be.</a:t>
            </a:r>
          </a:p>
          <a:p>
            <a:r>
              <a:rPr lang="en-US" dirty="0"/>
              <a:t>On the right side is our classification task — just answering yes or no: will this patient stay 3 or more days? Our simple Logistic Regression baseline already hit </a:t>
            </a:r>
            <a:r>
              <a:rPr lang="en-US" b="1" dirty="0"/>
              <a:t>77.8% accuracy</a:t>
            </a:r>
            <a:r>
              <a:rPr lang="en-US" dirty="0"/>
              <a:t>. Gradient Boosting matched that at around 77%. And our Neural Network came out on top at </a:t>
            </a:r>
            <a:r>
              <a:rPr lang="en-US" b="1" dirty="0"/>
              <a:t>78.3% accuracy with an AUC of 0.837</a:t>
            </a:r>
            <a:r>
              <a:rPr lang="en-US" dirty="0"/>
              <a:t>. All three models performed competitively, with the Neural Network taking the win.</a:t>
            </a:r>
          </a:p>
        </p:txBody>
      </p:sp>
    </p:spTree>
    <p:extLst>
      <p:ext uri="{BB962C8B-B14F-4D97-AF65-F5344CB8AC3E}">
        <p14:creationId xmlns:p14="http://schemas.microsoft.com/office/powerpoint/2010/main" val="972574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"Now, a good model isn't just accurate overall — it should work fairly across different groups of patients. That's what this slide checks."</a:t>
            </a:r>
            <a:endParaRPr lang="en-US" dirty="0"/>
          </a:p>
          <a:p>
            <a:r>
              <a:rPr lang="en-US" dirty="0"/>
              <a:t>We asked: do our prediction intervals — our uncertainty ranges — hit the 80% target equally well for men and women, for different age groups, and for different racial groups?</a:t>
            </a:r>
          </a:p>
          <a:p>
            <a:r>
              <a:rPr lang="en-US" dirty="0"/>
              <a:t>Starting with </a:t>
            </a:r>
            <a:r>
              <a:rPr lang="en-US" b="1" dirty="0"/>
              <a:t>gender</a:t>
            </a:r>
            <a:r>
              <a:rPr lang="en-US" dirty="0"/>
              <a:t> — both groups are right on target. Males at 80.2%, females at 79.5%. No issue there.</a:t>
            </a:r>
          </a:p>
          <a:p>
            <a:r>
              <a:rPr lang="en-US" dirty="0"/>
              <a:t>For </a:t>
            </a:r>
            <a:r>
              <a:rPr lang="en-US" b="1" dirty="0"/>
              <a:t>age</a:t>
            </a:r>
            <a:r>
              <a:rPr lang="en-US" dirty="0"/>
              <a:t>, there's an interesting pattern. Younger patients actually over-cover — the 10 to 20 age group hits 82.5%. But as patients get older, coverage drops slightly. The 90 to 100 age group falls to 77.6%. That makes sense — elderly diabetic patients are simply harder to predict because their health situations are more complex.</a:t>
            </a:r>
          </a:p>
          <a:p>
            <a:r>
              <a:rPr lang="en-US" dirty="0"/>
              <a:t>For </a:t>
            </a:r>
            <a:r>
              <a:rPr lang="en-US" b="1" dirty="0"/>
              <a:t>race</a:t>
            </a:r>
            <a:r>
              <a:rPr lang="en-US" dirty="0"/>
              <a:t>, most groups land very close to 80%. The one exception is the "Other" category at 76.4%, which is likely just because that group has fewer patients in the dataset, making calibration trickier.</a:t>
            </a:r>
          </a:p>
          <a:p>
            <a:r>
              <a:rPr lang="en-US" dirty="0"/>
              <a:t>Overall though, the model is </a:t>
            </a:r>
            <a:r>
              <a:rPr lang="en-US" b="1" dirty="0"/>
              <a:t>fair and consistent</a:t>
            </a:r>
            <a:r>
              <a:rPr lang="en-US" dirty="0"/>
              <a:t> across groups — which is really important before deploying anything in a healthcare setting.</a:t>
            </a:r>
          </a:p>
          <a:p>
            <a:pPr marL="0" indent="0" fontAlgn="t">
              <a:buNone/>
            </a:pPr>
            <a:endParaRPr lang="en-US" sz="2400" b="0" i="1"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85013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"This slide is about how we made our prediction ranges more reliable."</a:t>
            </a:r>
            <a:endParaRPr lang="en-US" dirty="0"/>
          </a:p>
          <a:p>
            <a:r>
              <a:rPr lang="en-US" dirty="0"/>
              <a:t>So our model doesn't just say "5 days" — it says "somewhere between 3 and 8 days." That range needs to be accurate. If we say 80% of patients will fall within the range, it should actually be 80% — not 70%, not 90%.</a:t>
            </a:r>
          </a:p>
          <a:p>
            <a:r>
              <a:rPr lang="en-US" dirty="0"/>
              <a:t>When we first built the model, the raw intervals were only capturing about </a:t>
            </a:r>
            <a:r>
              <a:rPr lang="en-US" b="1" dirty="0"/>
              <a:t>76%</a:t>
            </a:r>
            <a:r>
              <a:rPr lang="en-US" dirty="0"/>
              <a:t> of patients — falling short of our target. So we applied a small correction, essentially widening the intervals just a little, using a scaling factor of 1.056.</a:t>
            </a:r>
          </a:p>
          <a:p>
            <a:r>
              <a:rPr lang="en-US" dirty="0"/>
              <a:t>After that fix, coverage jumped to </a:t>
            </a:r>
            <a:r>
              <a:rPr lang="en-US" b="1" dirty="0"/>
              <a:t>79.8% on test data</a:t>
            </a:r>
            <a:r>
              <a:rPr lang="en-US" dirty="0"/>
              <a:t> — right at our 80% goal. You can see that improvement clearly in the top two bar charts — the dark bars are the calibrated version, both sitting right at the dashed target line.</a:t>
            </a:r>
          </a:p>
          <a:p>
            <a:r>
              <a:rPr lang="en-US" dirty="0"/>
              <a:t>The bottom chart shows the interval widths. On average, our range spans about </a:t>
            </a:r>
            <a:r>
              <a:rPr lang="en-US" b="1" dirty="0"/>
              <a:t>4.76 days</a:t>
            </a:r>
            <a:r>
              <a:rPr lang="en-US" dirty="0"/>
              <a:t>. So we're telling hospitals "expect this patient to stay within roughly a 5-day window." That's tight enough to actually be useful for planning beds and staffing.</a:t>
            </a:r>
          </a:p>
          <a:p>
            <a:r>
              <a:rPr lang="en-US" dirty="0"/>
              <a:t>The P50 median model also has an MAE of 1.57 days and an R² of 0.453 — meaning the center of our range is already a solid estimate on its own.</a:t>
            </a:r>
          </a:p>
          <a:p>
            <a:r>
              <a:rPr lang="en-US" i="1" dirty="0"/>
              <a:t>"So in short — we fixed our intervals to be accurate, and they're still practical enough to help hospitals plan ahead."</a:t>
            </a:r>
            <a:endParaRPr lang="en-US" dirty="0"/>
          </a:p>
          <a:p>
            <a:pPr marL="0" indent="0" fontAlgn="t">
              <a:buNone/>
            </a:pPr>
            <a:endParaRPr lang="en-US" sz="2400" b="0" i="1"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32053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"Finally, let's look at what the model actually learned — which factors matter most for predicting a long hospital stay."</a:t>
            </a:r>
            <a:endParaRPr lang="en-US" dirty="0"/>
          </a:p>
          <a:p>
            <a:r>
              <a:rPr lang="en-US" dirty="0"/>
              <a:t>This chart ranks features by how much the model's performance drops when that feature is removed. The bigger the drop, the more important the feature.</a:t>
            </a:r>
          </a:p>
          <a:p>
            <a:r>
              <a:rPr lang="en-US" dirty="0"/>
              <a:t>The clear number one is </a:t>
            </a:r>
            <a:r>
              <a:rPr lang="en-US" b="1" dirty="0"/>
              <a:t>Number of Medications</a:t>
            </a:r>
            <a:r>
              <a:rPr lang="en-US" dirty="0"/>
              <a:t>, with a score of 0.1037. That's more than twice the importance of the next feature. Think about it — if a patient comes in already on many medications, that tells you they're managing multiple conditions. They're complex cases, and they tend to stay longer.</a:t>
            </a:r>
          </a:p>
          <a:p>
            <a:r>
              <a:rPr lang="en-US" dirty="0"/>
              <a:t>Second is </a:t>
            </a:r>
            <a:r>
              <a:rPr lang="en-US" b="1" dirty="0"/>
              <a:t>Primary Diagnosis</a:t>
            </a:r>
            <a:r>
              <a:rPr lang="en-US" dirty="0"/>
              <a:t> at 0.0664, followed by </a:t>
            </a:r>
            <a:r>
              <a:rPr lang="en-US" b="1" dirty="0"/>
              <a:t>Number of Lab Procedures</a:t>
            </a:r>
            <a:r>
              <a:rPr lang="en-US" dirty="0"/>
              <a:t> and </a:t>
            </a:r>
            <a:r>
              <a:rPr lang="en-US" b="1" dirty="0"/>
              <a:t>Number of Procedures</a:t>
            </a:r>
            <a:r>
              <a:rPr lang="en-US" dirty="0"/>
              <a:t>. All of these are clinical — they reflect what's medically happening with the patient on day one.</a:t>
            </a:r>
          </a:p>
          <a:p>
            <a:r>
              <a:rPr lang="en-US" dirty="0"/>
              <a:t>Now look at the bottom of the chart — </a:t>
            </a:r>
            <a:r>
              <a:rPr lang="en-US" b="1" dirty="0"/>
              <a:t>Age</a:t>
            </a:r>
            <a:r>
              <a:rPr lang="en-US" dirty="0"/>
              <a:t> scores just 0.0039. Demographic factors like age, race, and gender barely move the needle compared to clinical ones.</a:t>
            </a:r>
          </a:p>
          <a:p>
            <a:r>
              <a:rPr lang="en-US" dirty="0"/>
              <a:t>The big takeaway here is this: </a:t>
            </a:r>
            <a:r>
              <a:rPr lang="en-US" b="1" dirty="0"/>
              <a:t>it's not who the patient is that predicts a long stay — it's how medically complex they are when they arrive.</a:t>
            </a:r>
            <a:r>
              <a:rPr lang="en-US" dirty="0"/>
              <a:t> That's actually a really useful insight for hospitals. It tells them to focus discharge planning resources on patients with high medication counts and intensive lab work, not just older patients.</a:t>
            </a:r>
          </a:p>
        </p:txBody>
      </p:sp>
    </p:spTree>
    <p:extLst>
      <p:ext uri="{BB962C8B-B14F-4D97-AF65-F5344CB8AC3E}">
        <p14:creationId xmlns:p14="http://schemas.microsoft.com/office/powerpoint/2010/main" val="2597435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3A2F0-2805-19A7-CA7D-E1CA16DDF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1D8A2-EC4A-8C3C-A1FA-4EAEB19DA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FA15C-AF1F-495A-0BE8-6C72D293A01C}"/>
              </a:ext>
            </a:extLst>
          </p:cNvPr>
          <p:cNvSpPr>
            <a:spLocks noGrp="1"/>
          </p:cNvSpPr>
          <p:nvPr>
            <p:ph type="body" idx="1"/>
          </p:nvPr>
        </p:nvSpPr>
        <p:spPr/>
        <p:txBody>
          <a:bodyPr/>
          <a:lstStyle/>
          <a:p>
            <a:r>
              <a:rPr lang="en-US" dirty="0">
                <a:effectLst/>
              </a:rPr>
              <a:t>"Now let's move from prediction to decision. What if hospitals didn't need more beds , just slightly better decisions?"</a:t>
            </a:r>
          </a:p>
          <a:p>
            <a:pPr marL="0" indent="0">
              <a:buNone/>
            </a:pPr>
            <a:br>
              <a:rPr lang="en-US" dirty="0">
                <a:effectLst/>
              </a:rPr>
            </a:br>
            <a:endParaRPr lang="en-US" dirty="0">
              <a:effectLst/>
            </a:endParaRPr>
          </a:p>
          <a:p>
            <a:r>
              <a:rPr lang="en-US" dirty="0">
                <a:effectLst/>
              </a:rPr>
              <a:t>"This chart simulates 30 days of bed usage. The blue line is today's reality. The orange line shows one small change , discharging just 10% of patients one day earlier. That's it. And you can see the orange line is consistently lower, every single day."</a:t>
            </a:r>
          </a:p>
          <a:p>
            <a:pPr marL="0" indent="0">
              <a:buNone/>
            </a:pPr>
            <a:br>
              <a:rPr lang="en-US" dirty="0">
                <a:effectLst/>
              </a:rPr>
            </a:br>
            <a:endParaRPr lang="en-US" dirty="0">
              <a:effectLst/>
            </a:endParaRPr>
          </a:p>
          <a:p>
            <a:r>
              <a:rPr lang="en-US" dirty="0">
                <a:effectLst/>
              </a:rPr>
              <a:t>"At peak demand, the hospital needs around 240 beds. With that one change, it drops to 232 ,and in the best case, 228. That's 8 to 12 fewer beds needed per day. About a 4 to 5 percent reduction."</a:t>
            </a:r>
          </a:p>
          <a:p>
            <a:pPr marL="0" indent="0">
              <a:buNone/>
            </a:pPr>
            <a:br>
              <a:rPr lang="en-US" dirty="0">
                <a:effectLst/>
              </a:rPr>
            </a:br>
            <a:endParaRPr lang="en-US" dirty="0">
              <a:effectLst/>
            </a:endParaRPr>
          </a:p>
          <a:p>
            <a:r>
              <a:rPr lang="en-US" dirty="0">
                <a:effectLst/>
              </a:rPr>
              <a:t> "To put that in perspective , 10 freed-up beds means fewer patients waiting in the ER, faster admissions, and less pressure on staff. Every single day."</a:t>
            </a:r>
          </a:p>
          <a:p>
            <a:br>
              <a:rPr lang="en-US" dirty="0">
                <a:effectLst/>
              </a:rPr>
            </a:br>
            <a:endParaRPr lang="en-US" dirty="0">
              <a:effectLst/>
            </a:endParaRPr>
          </a:p>
          <a:p>
            <a:r>
              <a:rPr lang="en-US" dirty="0">
                <a:effectLst/>
              </a:rPr>
              <a:t>"So, the takeaway is simple ,we don't always need more resources. Sometimes we just need better decisions. And that's exactly what our model helps enable."</a:t>
            </a:r>
          </a:p>
          <a:p>
            <a:pPr marL="0" indent="0">
              <a:buNone/>
            </a:pPr>
            <a:br>
              <a:rPr lang="en-US" dirty="0">
                <a:effectLst/>
              </a:rPr>
            </a:br>
            <a:endParaRPr lang="en-US" dirty="0">
              <a:effectLst/>
            </a:endParaRPr>
          </a:p>
        </p:txBody>
      </p:sp>
    </p:spTree>
    <p:extLst>
      <p:ext uri="{BB962C8B-B14F-4D97-AF65-F5344CB8AC3E}">
        <p14:creationId xmlns:p14="http://schemas.microsoft.com/office/powerpoint/2010/main" val="1190468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           [Panel D → Key Result 02: Medications]</a:t>
            </a:r>
            <a:r>
              <a:rPr lang="en-US" dirty="0"/>
              <a:t> "The first thing we found is that the number of medications a patient is on is the single strongest signal for predicting a long stay. More medications generally means more complexity  and that shows up clearly in the data."</a:t>
            </a:r>
          </a:p>
          <a:p>
            <a:pPr marL="0" indent="0">
              <a:buNone/>
            </a:pPr>
            <a:br>
              <a:rPr lang="en-US" dirty="0"/>
            </a:br>
            <a:endParaRPr lang="en-US" dirty="0"/>
          </a:p>
          <a:p>
            <a:pPr marL="0" indent="0">
              <a:buNone/>
            </a:pPr>
            <a:r>
              <a:rPr lang="en-US" b="1" dirty="0"/>
              <a:t>          [Panel E → Key Result 01: Unpredictability]</a:t>
            </a:r>
            <a:r>
              <a:rPr lang="en-US" dirty="0"/>
              <a:t> "We also asked : why are some patients so hard to predict? The answer wasn't age or demographics. It was clinical activity , patients with more lab tests and more medications were the hardest to forecast. Unpredictability is a medical complexity problem, not a people problem.</a:t>
            </a:r>
          </a:p>
          <a:p>
            <a:endParaRPr lang="en-US" dirty="0"/>
          </a:p>
        </p:txBody>
      </p:sp>
    </p:spTree>
    <p:extLst>
      <p:ext uri="{BB962C8B-B14F-4D97-AF65-F5344CB8AC3E}">
        <p14:creationId xmlns:p14="http://schemas.microsoft.com/office/powerpoint/2010/main" val="3164930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tested whether we could identify patients likely to leave early. The model did well , it correctly identified those patterns about 83% of the time. But we also know it has limits ,it works best for general planning, not day-by-day decisions."</a:t>
            </a:r>
          </a:p>
        </p:txBody>
      </p:sp>
    </p:spTree>
    <p:extLst>
      <p:ext uri="{BB962C8B-B14F-4D97-AF65-F5344CB8AC3E}">
        <p14:creationId xmlns:p14="http://schemas.microsoft.com/office/powerpoint/2010/main" val="739907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Key Result 04: Operational Impact]</a:t>
            </a:r>
            <a:r>
              <a:rPr lang="en-US"/>
              <a:t> "</a:t>
            </a:r>
            <a:r>
              <a:rPr lang="en-US" dirty="0"/>
              <a:t>And finally  even small improvements matter. If we discharge just 10% of patients one day earlier, that frees up 8 to 12 beds per day. That's a real, measurable difference in hospital capacity.“</a:t>
            </a:r>
          </a:p>
          <a:p>
            <a:endParaRPr lang="en-US" dirty="0"/>
          </a:p>
          <a:p>
            <a:r>
              <a:rPr lang="en-US" dirty="0"/>
              <a:t>"So the takeaway is , the model is reliable, actionable, and even modest changes can have meaningful impact."</a:t>
            </a:r>
          </a:p>
        </p:txBody>
      </p:sp>
    </p:spTree>
    <p:extLst>
      <p:ext uri="{BB962C8B-B14F-4D97-AF65-F5344CB8AC3E}">
        <p14:creationId xmlns:p14="http://schemas.microsoft.com/office/powerpoint/2010/main" val="2469174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"So what do we actually recommend hospitals do with all of this?"</a:t>
            </a:r>
            <a:endParaRPr lang="en-US" dirty="0"/>
          </a:p>
          <a:p>
            <a:r>
              <a:rPr lang="en-US" dirty="0"/>
              <a:t>Based on everything we found, we have </a:t>
            </a:r>
            <a:r>
              <a:rPr lang="en-US" b="1" dirty="0"/>
              <a:t>three core recommendations:</a:t>
            </a:r>
            <a:endParaRPr lang="en-US" dirty="0"/>
          </a:p>
          <a:p>
            <a:r>
              <a:rPr lang="en-US" b="1" dirty="0"/>
              <a:t>First</a:t>
            </a:r>
            <a:r>
              <a:rPr lang="en-US" dirty="0"/>
              <a:t> — replace single-point LOS estimates with our </a:t>
            </a:r>
            <a:r>
              <a:rPr lang="en-US" b="1" dirty="0" err="1"/>
              <a:t>LightGBM</a:t>
            </a:r>
            <a:r>
              <a:rPr lang="en-US" b="1" dirty="0"/>
              <a:t> model paired with quantile uncertainty bounds.</a:t>
            </a:r>
            <a:r>
              <a:rPr lang="en-US" dirty="0"/>
              <a:t> Instead of saying "this patient will stay 5 days," you give the care team a range — P10 to P90 — so they can plan for the best and worst case. It's more honest, and operationally more useful.</a:t>
            </a:r>
          </a:p>
          <a:p>
            <a:r>
              <a:rPr lang="en-US" b="1" dirty="0"/>
              <a:t>Second</a:t>
            </a:r>
            <a:r>
              <a:rPr lang="en-US" dirty="0"/>
              <a:t> — use that model to </a:t>
            </a:r>
            <a:r>
              <a:rPr lang="en-US" b="1" dirty="0"/>
              <a:t>proactively target high-complexity patients for early discharge.</a:t>
            </a:r>
            <a:r>
              <a:rPr lang="en-US" dirty="0"/>
              <a:t> The patients with the highest medication burden and lab intensity are your biggest levers. Our simulation showed that discharging just </a:t>
            </a:r>
            <a:r>
              <a:rPr lang="en-US" b="1" dirty="0"/>
              <a:t>10% of patients one day early</a:t>
            </a:r>
            <a:r>
              <a:rPr lang="en-US" dirty="0"/>
              <a:t> can reduce peak bed demand by </a:t>
            </a:r>
            <a:r>
              <a:rPr lang="en-US" b="1" dirty="0"/>
              <a:t>8 to 12 beds per day</a:t>
            </a:r>
            <a:r>
              <a:rPr lang="en-US" dirty="0"/>
              <a:t> — that's a 4 to 5% relief. A small operational shift, a real impact.</a:t>
            </a:r>
          </a:p>
          <a:p>
            <a:r>
              <a:rPr lang="en-US" b="1" dirty="0"/>
              <a:t>Third</a:t>
            </a:r>
            <a:r>
              <a:rPr lang="en-US" dirty="0"/>
              <a:t> — </a:t>
            </a:r>
            <a:r>
              <a:rPr lang="en-US" b="1" dirty="0"/>
              <a:t>integrate the 30-day rolling bed simulation into daily planning.</a:t>
            </a:r>
            <a:r>
              <a:rPr lang="en-US" dirty="0"/>
              <a:t> This isn't just a research model — it's a decision tool. Bed managers can see high-demand periods days in advance and prepare staffing proactively, not reactively.</a:t>
            </a:r>
          </a:p>
          <a:p>
            <a:r>
              <a:rPr lang="en-US" dirty="0"/>
              <a:t>Now, we're honest about our limitations. Our discharge-readiness model works well at 78% accuracy, but true next-day forecasting really needs </a:t>
            </a:r>
            <a:r>
              <a:rPr lang="en-US" b="1" dirty="0"/>
              <a:t>real-time EHR time-series data</a:t>
            </a:r>
            <a:r>
              <a:rPr lang="en-US" dirty="0"/>
              <a:t> — something our static dataset couldn't provide. And our simulation assumes constant daily arrivals, which real hospitals don't have.</a:t>
            </a:r>
          </a:p>
          <a:p>
            <a:r>
              <a:rPr lang="en-US" dirty="0"/>
              <a:t>That brings us to </a:t>
            </a:r>
            <a:r>
              <a:rPr lang="en-US" b="1" dirty="0"/>
              <a:t>future work.</a:t>
            </a:r>
            <a:r>
              <a:rPr lang="en-US" dirty="0"/>
              <a:t> The four things we want to build next are: live EHR integration, multi-hospital validation, a </a:t>
            </a:r>
            <a:r>
              <a:rPr lang="en-US" b="1" dirty="0"/>
              <a:t>real-time SAS </a:t>
            </a:r>
            <a:r>
              <a:rPr lang="en-US" b="1" dirty="0" err="1"/>
              <a:t>Viya</a:t>
            </a:r>
            <a:r>
              <a:rPr lang="en-US" b="1" dirty="0"/>
              <a:t> dashboard</a:t>
            </a:r>
            <a:r>
              <a:rPr lang="en-US" dirty="0"/>
              <a:t> for bed managers, and sequential discharge modeling using time-series EHR data.</a:t>
            </a:r>
          </a:p>
          <a:p>
            <a:r>
              <a:rPr lang="en-US" dirty="0"/>
              <a:t>The foundation is here. The models work. The next step is getting this into the hands of the people who actually run hospitals.</a:t>
            </a:r>
          </a:p>
          <a:p>
            <a:pPr marL="0" indent="0" fontAlgn="t">
              <a:buFontTx/>
              <a:buNone/>
            </a:pPr>
            <a:endParaRPr lang="en-US" sz="24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850418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i="0" dirty="0"/>
              <a:t>And with that — thank you so much. We're the Frontline Forecast team from the University of North Texas — Kate, </a:t>
            </a:r>
            <a:r>
              <a:rPr lang="en-US" i="0" dirty="0" err="1"/>
              <a:t>Aarya</a:t>
            </a:r>
            <a:r>
              <a:rPr lang="en-US" i="0" dirty="0"/>
              <a:t>, </a:t>
            </a:r>
            <a:r>
              <a:rPr lang="en-US" i="0" dirty="0" err="1"/>
              <a:t>Sakeet</a:t>
            </a:r>
            <a:r>
              <a:rPr lang="en-US" i="0" dirty="0"/>
              <a:t>, and </a:t>
            </a:r>
            <a:r>
              <a:rPr lang="en-US" i="0" dirty="0" err="1"/>
              <a:t>Sulav</a:t>
            </a:r>
            <a:r>
              <a:rPr lang="en-US" i="0" dirty="0"/>
              <a:t>. Our contact info is on the screen, and we'd love your questions.</a:t>
            </a:r>
          </a:p>
        </p:txBody>
      </p:sp>
    </p:spTree>
    <p:extLst>
      <p:ext uri="{BB962C8B-B14F-4D97-AF65-F5344CB8AC3E}">
        <p14:creationId xmlns:p14="http://schemas.microsoft.com/office/powerpoint/2010/main" val="5326128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Innovate - 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nnovate Logo">
            <a:extLst>
              <a:ext uri="{FF2B5EF4-FFF2-40B4-BE49-F238E27FC236}">
                <a16:creationId xmlns:a16="http://schemas.microsoft.com/office/drawing/2014/main" id="{F6DD9450-4619-FAAD-8C22-42AB314E72B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252431" y="952501"/>
            <a:ext cx="3860806" cy="1029549"/>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35965"/>
            <a:ext cx="1414799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178055"/>
            <a:ext cx="1414799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9572087"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
        <p:nvSpPr>
          <p:cNvPr id="3" name="TextBox 4">
            <a:extLst>
              <a:ext uri="{FF2B5EF4-FFF2-40B4-BE49-F238E27FC236}">
                <a16:creationId xmlns:a16="http://schemas.microsoft.com/office/drawing/2014/main" id="{49C0257D-B61C-3687-FD6D-C3E4FA43E91F}"/>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Innovate - Title Plai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1" y="3583000"/>
            <a:ext cx="15778269"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1" y="4875662"/>
            <a:ext cx="15778269"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
        <p:nvSpPr>
          <p:cNvPr id="3" name="TextBox 4">
            <a:extLst>
              <a:ext uri="{FF2B5EF4-FFF2-40B4-BE49-F238E27FC236}">
                <a16:creationId xmlns:a16="http://schemas.microsoft.com/office/drawing/2014/main" id="{49C0257D-B61C-3687-FD6D-C3E4FA43E91F}"/>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Innovate Logo">
            <a:extLst>
              <a:ext uri="{FF2B5EF4-FFF2-40B4-BE49-F238E27FC236}">
                <a16:creationId xmlns:a16="http://schemas.microsoft.com/office/drawing/2014/main" id="{F136C684-6487-8FA9-BF15-F00C658044E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252431" y="952501"/>
            <a:ext cx="3860806" cy="1029549"/>
          </a:xfrm>
          <a:prstGeom prst="rect">
            <a:avLst/>
          </a:prstGeom>
        </p:spPr>
      </p:pic>
    </p:spTree>
    <p:custDataLst>
      <p:tags r:id="rId1"/>
    </p:custDataLst>
    <p:extLst>
      <p:ext uri="{BB962C8B-B14F-4D97-AF65-F5344CB8AC3E}">
        <p14:creationId xmlns:p14="http://schemas.microsoft.com/office/powerpoint/2010/main" val="53150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AS Innovate - Section">
    <p:bg>
      <p:bgPr>
        <a:solidFill>
          <a:schemeClr val="accent5"/>
        </a:solidFill>
        <a:effectLst/>
      </p:bgPr>
    </p:bg>
    <p:spTree>
      <p:nvGrpSpPr>
        <p:cNvPr id="1" name=""/>
        <p:cNvGrpSpPr/>
        <p:nvPr/>
      </p:nvGrpSpPr>
      <p:grpSpPr>
        <a:xfrm>
          <a:off x="0" y="0"/>
          <a:ext cx="0" cy="0"/>
          <a:chOff x="0" y="0"/>
          <a:chExt cx="0" cy="0"/>
        </a:xfrm>
      </p:grpSpPr>
      <p:pic>
        <p:nvPicPr>
          <p:cNvPr id="2" name="Innovate Logo">
            <a:extLst>
              <a:ext uri="{FF2B5EF4-FFF2-40B4-BE49-F238E27FC236}">
                <a16:creationId xmlns:a16="http://schemas.microsoft.com/office/drawing/2014/main" id="{F1AEB127-AE11-C5CD-F6BE-50E282351CE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938632" y="9512121"/>
            <a:ext cx="2000336" cy="533423"/>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3" name="TextBox 4">
            <a:extLst>
              <a:ext uri="{FF2B5EF4-FFF2-40B4-BE49-F238E27FC236}">
                <a16:creationId xmlns:a16="http://schemas.microsoft.com/office/drawing/2014/main" id="{A0439912-553E-D011-797D-FF1D6BFB1A43}"/>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AS Innovate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AS Innovate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Innovate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Innovate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Innovate - Title Only Lef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S Innovate - Title &amp; Subtitle Lef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AS Innovate - Closing">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Innovate Logo">
            <a:extLst>
              <a:ext uri="{FF2B5EF4-FFF2-40B4-BE49-F238E27FC236}">
                <a16:creationId xmlns:a16="http://schemas.microsoft.com/office/drawing/2014/main" id="{6F6DCCF1-DE93-FE66-01AE-97895EBEE32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3734927" y="8330350"/>
            <a:ext cx="3860806" cy="1029549"/>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305440"/>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4" name="TextBox 4">
            <a:extLst>
              <a:ext uri="{FF2B5EF4-FFF2-40B4-BE49-F238E27FC236}">
                <a16:creationId xmlns:a16="http://schemas.microsoft.com/office/drawing/2014/main" id="{565DC667-F78B-8114-6DA9-35EC16239831}"/>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AS Innovate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AS Innovate - Video Only">
    <p:bg>
      <p:bgPr>
        <a:solidFill>
          <a:schemeClr val="tx1"/>
        </a:solidFill>
        <a:effectLst/>
      </p:bgPr>
    </p:bg>
    <p:spTree>
      <p:nvGrpSpPr>
        <p:cNvPr id="1" name=""/>
        <p:cNvGrpSpPr/>
        <p:nvPr/>
      </p:nvGrpSpPr>
      <p:grpSpPr>
        <a:xfrm>
          <a:off x="0" y="0"/>
          <a:ext cx="0" cy="0"/>
          <a:chOff x="0" y="0"/>
          <a:chExt cx="0" cy="0"/>
        </a:xfrm>
      </p:grpSpPr>
      <p:pic>
        <p:nvPicPr>
          <p:cNvPr id="4" name="Innovate Logo">
            <a:extLst>
              <a:ext uri="{FF2B5EF4-FFF2-40B4-BE49-F238E27FC236}">
                <a16:creationId xmlns:a16="http://schemas.microsoft.com/office/drawing/2014/main" id="{BE14233B-9F58-3CD1-93AC-01C8EE3D860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989000" y="9512121"/>
            <a:ext cx="1949970" cy="466344"/>
          </a:xfrm>
          <a:prstGeom prst="rect">
            <a:avLst/>
          </a:prstGeom>
        </p:spPr>
      </p:pic>
      <p:sp>
        <p:nvSpPr>
          <p:cNvPr id="2" name="TextBox 4">
            <a:extLst>
              <a:ext uri="{FF2B5EF4-FFF2-40B4-BE49-F238E27FC236}">
                <a16:creationId xmlns:a16="http://schemas.microsoft.com/office/drawing/2014/main" id="{93E9F94E-643A-C1DE-FC8A-C6EDD125B6DF}"/>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Innovate Logo">
            <a:extLst>
              <a:ext uri="{FF2B5EF4-FFF2-40B4-BE49-F238E27FC236}">
                <a16:creationId xmlns:a16="http://schemas.microsoft.com/office/drawing/2014/main" id="{3FF0AE2E-CCAC-E14C-863D-E379D44FC168}"/>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p:blipFill>
        <p:spPr>
          <a:xfrm>
            <a:off x="15938631" y="9512121"/>
            <a:ext cx="2000338" cy="533423"/>
          </a:xfrm>
          <a:prstGeom prst="rect">
            <a:avLst/>
          </a:prstGeom>
        </p:spPr>
      </p:pic>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sp>
        <p:nvSpPr>
          <p:cNvPr id="5" name="TextBox 4">
            <a:extLst>
              <a:ext uri="{FF2B5EF4-FFF2-40B4-BE49-F238E27FC236}">
                <a16:creationId xmlns:a16="http://schemas.microsoft.com/office/drawing/2014/main" id="{5EE3044A-C9A6-E884-4C9A-23621BD0A939}"/>
              </a:ext>
            </a:extLst>
          </p:cNvPr>
          <p:cNvSpPr txBox="1"/>
          <p:nvPr userDrawn="1"/>
        </p:nvSpPr>
        <p:spPr>
          <a:xfrm>
            <a:off x="1252432" y="9846548"/>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4"/>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51" r:id="rId2"/>
    <p:sldLayoutId id="2147483838" r:id="rId3"/>
    <p:sldLayoutId id="2147483821" r:id="rId4"/>
    <p:sldLayoutId id="2147483820" r:id="rId5"/>
    <p:sldLayoutId id="2147483819" r:id="rId6"/>
    <p:sldLayoutId id="2147483822" r:id="rId7"/>
    <p:sldLayoutId id="2147483824" r:id="rId8"/>
    <p:sldLayoutId id="2147483832" r:id="rId9"/>
    <p:sldLayoutId id="2147483837" r:id="rId10"/>
    <p:sldLayoutId id="2147483828" r:id="rId11"/>
    <p:sldLayoutId id="2147483829" r:id="rId12"/>
  </p:sldLayoutIdLst>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asvg="http://schemas.microsoft.com/office/drawing/2016/SVG/main"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2.xml"/><Relationship Id="rId7" Type="http://schemas.openxmlformats.org/officeDocument/2006/relationships/image" Target="../media/image10.svg"/><Relationship Id="rId2" Type="http://schemas.openxmlformats.org/officeDocument/2006/relationships/slideLayout" Target="../slideLayouts/slideLayout6.xml"/><Relationship Id="rId1" Type="http://schemas.openxmlformats.org/officeDocument/2006/relationships/tags" Target="../tags/tag16.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634D-DBF0-84F0-CBBC-16441986324F}"/>
              </a:ext>
            </a:extLst>
          </p:cNvPr>
          <p:cNvSpPr>
            <a:spLocks noGrp="1"/>
          </p:cNvSpPr>
          <p:nvPr>
            <p:ph type="title"/>
          </p:nvPr>
        </p:nvSpPr>
        <p:spPr/>
        <p:txBody>
          <a:bodyPr/>
          <a:lstStyle/>
          <a:p>
            <a:r>
              <a:rPr lang="en-US" dirty="0"/>
              <a:t>Frontline Forecast</a:t>
            </a:r>
          </a:p>
        </p:txBody>
      </p:sp>
      <p:sp>
        <p:nvSpPr>
          <p:cNvPr id="3" name="Text Placeholder 2">
            <a:extLst>
              <a:ext uri="{FF2B5EF4-FFF2-40B4-BE49-F238E27FC236}">
                <a16:creationId xmlns:a16="http://schemas.microsoft.com/office/drawing/2014/main" id="{D65146C1-7A34-1A32-8F3B-19AF901DF4F8}"/>
              </a:ext>
            </a:extLst>
          </p:cNvPr>
          <p:cNvSpPr>
            <a:spLocks noGrp="1"/>
          </p:cNvSpPr>
          <p:nvPr>
            <p:ph type="body" sz="quarter" idx="10"/>
          </p:nvPr>
        </p:nvSpPr>
        <p:spPr/>
        <p:txBody>
          <a:bodyPr/>
          <a:lstStyle/>
          <a:p>
            <a:r>
              <a:rPr lang="en-US" dirty="0"/>
              <a:t>University of North Texas</a:t>
            </a:r>
          </a:p>
          <a:p>
            <a:endParaRPr lang="en-US" dirty="0"/>
          </a:p>
        </p:txBody>
      </p:sp>
      <p:sp>
        <p:nvSpPr>
          <p:cNvPr id="4" name="Text Placeholder 3">
            <a:extLst>
              <a:ext uri="{FF2B5EF4-FFF2-40B4-BE49-F238E27FC236}">
                <a16:creationId xmlns:a16="http://schemas.microsoft.com/office/drawing/2014/main" id="{4C414BE3-0527-C20E-1F4D-0583A5F41016}"/>
              </a:ext>
            </a:extLst>
          </p:cNvPr>
          <p:cNvSpPr>
            <a:spLocks noGrp="1"/>
          </p:cNvSpPr>
          <p:nvPr>
            <p:ph type="body" sz="quarter" idx="11"/>
          </p:nvPr>
        </p:nvSpPr>
        <p:spPr>
          <a:xfrm>
            <a:off x="1252432" y="8276979"/>
            <a:ext cx="12571144" cy="1057522"/>
          </a:xfrm>
        </p:spPr>
        <p:txBody>
          <a:bodyPr/>
          <a:lstStyle/>
          <a:p>
            <a:r>
              <a:rPr lang="en-US" dirty="0"/>
              <a:t>Kate Dau  ·  </a:t>
            </a:r>
            <a:r>
              <a:rPr lang="en-US" dirty="0" err="1"/>
              <a:t>Aarya</a:t>
            </a:r>
            <a:r>
              <a:rPr lang="en-US" dirty="0"/>
              <a:t> Acharya  ·  </a:t>
            </a:r>
            <a:r>
              <a:rPr lang="en-US" dirty="0" err="1"/>
              <a:t>Sakeet</a:t>
            </a:r>
            <a:r>
              <a:rPr lang="en-US" dirty="0"/>
              <a:t> </a:t>
            </a:r>
            <a:r>
              <a:rPr lang="en-US" dirty="0" err="1"/>
              <a:t>Kopparapu</a:t>
            </a:r>
            <a:r>
              <a:rPr lang="en-US" dirty="0"/>
              <a:t>  ·  </a:t>
            </a:r>
            <a:r>
              <a:rPr lang="en-US" dirty="0" err="1"/>
              <a:t>Sulav</a:t>
            </a:r>
            <a:r>
              <a:rPr lang="en-US" dirty="0"/>
              <a:t> </a:t>
            </a:r>
            <a:r>
              <a:rPr lang="en-US" dirty="0" err="1"/>
              <a:t>Regmi</a:t>
            </a:r>
            <a:endParaRPr lang="en-US" dirty="0"/>
          </a:p>
          <a:p>
            <a:r>
              <a:rPr lang="en-US" dirty="0"/>
              <a:t>Michel </a:t>
            </a:r>
            <a:r>
              <a:rPr lang="en-US" dirty="0" err="1"/>
              <a:t>Fathi</a:t>
            </a:r>
            <a:endParaRPr lang="en-US" dirty="0"/>
          </a:p>
        </p:txBody>
      </p:sp>
      <p:sp>
        <p:nvSpPr>
          <p:cNvPr id="5" name="Text Placeholder 2">
            <a:extLst>
              <a:ext uri="{FF2B5EF4-FFF2-40B4-BE49-F238E27FC236}">
                <a16:creationId xmlns:a16="http://schemas.microsoft.com/office/drawing/2014/main" id="{21AEB228-378E-4364-958D-68F30B730D07}"/>
              </a:ext>
            </a:extLst>
          </p:cNvPr>
          <p:cNvSpPr txBox="1">
            <a:spLocks/>
          </p:cNvSpPr>
          <p:nvPr/>
        </p:nvSpPr>
        <p:spPr>
          <a:xfrm>
            <a:off x="1252432" y="6150813"/>
            <a:ext cx="14147990" cy="923330"/>
          </a:xfrm>
          <a:prstGeom prst="rect">
            <a:avLst/>
          </a:prstGeom>
        </p:spPr>
        <p:txBody>
          <a:bodyPr vert="horz" wrap="square" lIns="0" tIns="0" rIns="0" bIns="0" rtlCol="0">
            <a:noAutofit/>
          </a:bodyPr>
          <a:lstStyle>
            <a:lvl1pPr marL="0" indent="0" algn="l" defTabSz="1371600" rtl="0" eaLnBrk="1" latinLnBrk="0" hangingPunct="1">
              <a:lnSpc>
                <a:spcPct val="100000"/>
              </a:lnSpc>
              <a:spcBef>
                <a:spcPts val="600"/>
              </a:spcBef>
              <a:buClr>
                <a:schemeClr val="accent5"/>
              </a:buClr>
              <a:buFont typeface="Anova Light" panose="020B0403020203020204" pitchFamily="34" charset="0"/>
              <a:buNone/>
              <a:defRPr sz="4800" b="0" i="0" kern="1200">
                <a:solidFill>
                  <a:schemeClr val="accent3"/>
                </a:solidFill>
                <a:latin typeface="+mn-lt"/>
                <a:ea typeface="+mn-ea"/>
                <a:cs typeface="+mn-cs"/>
              </a:defRPr>
            </a:lvl1pPr>
            <a:lvl2pPr marL="365760" indent="0" algn="l" defTabSz="1371600" rtl="0" eaLnBrk="1" latinLnBrk="0" hangingPunct="1">
              <a:lnSpc>
                <a:spcPct val="85000"/>
              </a:lnSpc>
              <a:spcBef>
                <a:spcPts val="1600"/>
              </a:spcBef>
              <a:buClr>
                <a:schemeClr val="accent5"/>
              </a:buClr>
              <a:buFont typeface="Anova Light" panose="020B0403020203020204" pitchFamily="34" charset="0"/>
              <a:buNone/>
              <a:defRPr sz="2800" b="0" i="0" kern="1200">
                <a:solidFill>
                  <a:schemeClr val="accent3"/>
                </a:solidFill>
                <a:latin typeface="+mn-lt"/>
                <a:ea typeface="+mn-ea"/>
                <a:cs typeface="+mn-cs"/>
              </a:defRPr>
            </a:lvl2pPr>
            <a:lvl3pPr marL="731520" indent="0" algn="l" defTabSz="1371600" rtl="0" eaLnBrk="1" latinLnBrk="0" hangingPunct="1">
              <a:lnSpc>
                <a:spcPct val="85000"/>
              </a:lnSpc>
              <a:spcBef>
                <a:spcPts val="1600"/>
              </a:spcBef>
              <a:buClr>
                <a:schemeClr val="accent5"/>
              </a:buClr>
              <a:buFont typeface="Anova Light" panose="020B0403020203020204" pitchFamily="34" charset="0"/>
              <a:buNone/>
              <a:defRPr sz="2400" b="0" i="0" kern="1200">
                <a:solidFill>
                  <a:schemeClr val="accent3"/>
                </a:solidFill>
                <a:latin typeface="+mn-lt"/>
                <a:ea typeface="+mn-ea"/>
                <a:cs typeface="+mn-cs"/>
              </a:defRPr>
            </a:lvl3pPr>
            <a:lvl4pPr marL="2057400" indent="0" algn="l" defTabSz="1371600" rtl="0" eaLnBrk="1" latinLnBrk="0" hangingPunct="1">
              <a:lnSpc>
                <a:spcPct val="90000"/>
              </a:lnSpc>
              <a:spcBef>
                <a:spcPts val="750"/>
              </a:spcBef>
              <a:buFont typeface="Anova Light" panose="020B0403020203020204" pitchFamily="34" charset="0"/>
              <a:buNone/>
              <a:defRPr sz="2700" kern="1200">
                <a:solidFill>
                  <a:schemeClr val="accent3"/>
                </a:solidFill>
                <a:latin typeface="+mj-lt"/>
                <a:ea typeface="+mn-ea"/>
                <a:cs typeface="+mn-cs"/>
              </a:defRPr>
            </a:lvl4pPr>
            <a:lvl5pPr marL="2743200" indent="0" algn="l" defTabSz="1371600" rtl="0" eaLnBrk="1" latinLnBrk="0" hangingPunct="1">
              <a:lnSpc>
                <a:spcPct val="90000"/>
              </a:lnSpc>
              <a:spcBef>
                <a:spcPts val="750"/>
              </a:spcBef>
              <a:buFont typeface="Anova Light" panose="020B0403020203020204" pitchFamily="34" charset="0"/>
              <a:buNone/>
              <a:defRPr sz="2700" kern="1200">
                <a:solidFill>
                  <a:schemeClr val="accent3"/>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r>
              <a:rPr lang="en-US" sz="4000" b="1" dirty="0"/>
              <a:t>Predict Length of Stay and Optimize Bed Allocation</a:t>
            </a:r>
          </a:p>
          <a:p>
            <a:endParaRPr lang="en-US" dirty="0"/>
          </a:p>
        </p:txBody>
      </p:sp>
    </p:spTree>
    <p:extLst>
      <p:ext uri="{BB962C8B-B14F-4D97-AF65-F5344CB8AC3E}">
        <p14:creationId xmlns:p14="http://schemas.microsoft.com/office/powerpoint/2010/main" val="69742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207A38-8B8C-9068-A1B4-881DF85798DA}"/>
              </a:ext>
            </a:extLst>
          </p:cNvPr>
          <p:cNvSpPr>
            <a:spLocks noGrp="1"/>
          </p:cNvSpPr>
          <p:nvPr>
            <p:ph type="title"/>
          </p:nvPr>
        </p:nvSpPr>
        <p:spPr>
          <a:xfrm>
            <a:off x="768096" y="775134"/>
            <a:ext cx="15773400" cy="775596"/>
          </a:xfrm>
        </p:spPr>
        <p:txBody>
          <a:bodyPr/>
          <a:lstStyle/>
          <a:p>
            <a:r>
              <a:rPr lang="en-US" dirty="0"/>
              <a:t>Introduction &amp; Problem Statement</a:t>
            </a:r>
          </a:p>
        </p:txBody>
      </p:sp>
      <p:sp>
        <p:nvSpPr>
          <p:cNvPr id="7" name="Text Placeholder 6">
            <a:extLst>
              <a:ext uri="{FF2B5EF4-FFF2-40B4-BE49-F238E27FC236}">
                <a16:creationId xmlns:a16="http://schemas.microsoft.com/office/drawing/2014/main" id="{664E3BED-30B2-C292-D194-BD4289188EE2}"/>
              </a:ext>
            </a:extLst>
          </p:cNvPr>
          <p:cNvSpPr>
            <a:spLocks noGrp="1"/>
          </p:cNvSpPr>
          <p:nvPr>
            <p:ph type="body" sz="quarter" idx="10"/>
          </p:nvPr>
        </p:nvSpPr>
        <p:spPr>
          <a:xfrm>
            <a:off x="768096" y="1596750"/>
            <a:ext cx="15773400" cy="549382"/>
          </a:xfrm>
        </p:spPr>
        <p:txBody>
          <a:bodyPr>
            <a:normAutofit/>
          </a:bodyPr>
          <a:lstStyle/>
          <a:p>
            <a:r>
              <a:rPr lang="en-US" dirty="0"/>
              <a:t>Why this problem matters ?</a:t>
            </a:r>
          </a:p>
          <a:p>
            <a:endParaRPr lang="en-US" dirty="0"/>
          </a:p>
        </p:txBody>
      </p:sp>
      <p:sp>
        <p:nvSpPr>
          <p:cNvPr id="41" name="Text 18">
            <a:extLst>
              <a:ext uri="{FF2B5EF4-FFF2-40B4-BE49-F238E27FC236}">
                <a16:creationId xmlns:a16="http://schemas.microsoft.com/office/drawing/2014/main" id="{AD411675-D889-B766-A9FD-769C8057FD0A}"/>
              </a:ext>
            </a:extLst>
          </p:cNvPr>
          <p:cNvSpPr/>
          <p:nvPr/>
        </p:nvSpPr>
        <p:spPr>
          <a:xfrm>
            <a:off x="822960" y="5939541"/>
            <a:ext cx="16642080" cy="475488"/>
          </a:xfrm>
          <a:prstGeom prst="rect">
            <a:avLst/>
          </a:prstGeom>
          <a:noFill/>
          <a:ln/>
        </p:spPr>
        <p:txBody>
          <a:bodyPr wrap="square" lIns="0" tIns="0" rIns="0" bIns="0" rtlCol="0" anchor="ctr"/>
          <a:lstStyle/>
          <a:p>
            <a:r>
              <a:rPr lang="en-US" b="1" kern="0" spc="400" dirty="0">
                <a:solidFill>
                  <a:schemeClr val="bg2"/>
                </a:solidFill>
                <a:ea typeface="Calibri" pitchFamily="34" charset="-122"/>
                <a:cs typeface="Calibri" pitchFamily="34" charset="-120"/>
              </a:rPr>
              <a:t>THREE QUESTIONS THAT SHAPED OUR INVESTIGATION</a:t>
            </a:r>
            <a:endParaRPr lang="en-US" dirty="0">
              <a:solidFill>
                <a:schemeClr val="bg2"/>
              </a:solidFill>
            </a:endParaRPr>
          </a:p>
        </p:txBody>
      </p:sp>
      <p:sp>
        <p:nvSpPr>
          <p:cNvPr id="42" name="Shape 19">
            <a:extLst>
              <a:ext uri="{FF2B5EF4-FFF2-40B4-BE49-F238E27FC236}">
                <a16:creationId xmlns:a16="http://schemas.microsoft.com/office/drawing/2014/main" id="{542AEDA8-92A2-0FA5-F705-9F3518D2BD90}"/>
              </a:ext>
            </a:extLst>
          </p:cNvPr>
          <p:cNvSpPr/>
          <p:nvPr/>
        </p:nvSpPr>
        <p:spPr>
          <a:xfrm>
            <a:off x="768097" y="6602725"/>
            <a:ext cx="16800200" cy="1080773"/>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3200"/>
          </a:p>
        </p:txBody>
      </p:sp>
      <p:sp>
        <p:nvSpPr>
          <p:cNvPr id="43" name="Shape 20">
            <a:extLst>
              <a:ext uri="{FF2B5EF4-FFF2-40B4-BE49-F238E27FC236}">
                <a16:creationId xmlns:a16="http://schemas.microsoft.com/office/drawing/2014/main" id="{B86C55FE-3CB0-5CCC-69FB-1182BE734E07}"/>
              </a:ext>
            </a:extLst>
          </p:cNvPr>
          <p:cNvSpPr/>
          <p:nvPr/>
        </p:nvSpPr>
        <p:spPr>
          <a:xfrm>
            <a:off x="768096" y="6602725"/>
            <a:ext cx="960011" cy="1080773"/>
          </a:xfrm>
          <a:prstGeom prst="rect">
            <a:avLst/>
          </a:prstGeom>
          <a:solidFill>
            <a:schemeClr val="bg2"/>
          </a:solidFill>
          <a:ln w="12700">
            <a:solidFill>
              <a:srgbClr val="1B3A6B"/>
            </a:solidFill>
            <a:prstDash val="solid"/>
          </a:ln>
        </p:spPr>
        <p:txBody>
          <a:bodyPr/>
          <a:lstStyle/>
          <a:p>
            <a:endParaRPr lang="en-US" sz="2800"/>
          </a:p>
        </p:txBody>
      </p:sp>
      <p:sp>
        <p:nvSpPr>
          <p:cNvPr id="44" name="Text 21">
            <a:extLst>
              <a:ext uri="{FF2B5EF4-FFF2-40B4-BE49-F238E27FC236}">
                <a16:creationId xmlns:a16="http://schemas.microsoft.com/office/drawing/2014/main" id="{FBBD5502-165C-FF04-DAE1-62631B430720}"/>
              </a:ext>
            </a:extLst>
          </p:cNvPr>
          <p:cNvSpPr/>
          <p:nvPr/>
        </p:nvSpPr>
        <p:spPr>
          <a:xfrm>
            <a:off x="768096" y="6602725"/>
            <a:ext cx="960011" cy="1080773"/>
          </a:xfrm>
          <a:prstGeom prst="rect">
            <a:avLst/>
          </a:prstGeom>
          <a:noFill/>
          <a:ln/>
        </p:spPr>
        <p:txBody>
          <a:bodyPr wrap="square" lIns="0" tIns="0" rIns="0" bIns="0" rtlCol="0" anchor="ctr"/>
          <a:lstStyle/>
          <a:p>
            <a:pPr algn="ctr"/>
            <a:r>
              <a:rPr lang="en-US" sz="3200" b="1" dirty="0">
                <a:solidFill>
                  <a:srgbClr val="FFFFFF"/>
                </a:solidFill>
                <a:ea typeface="Calibri" pitchFamily="34" charset="-122"/>
                <a:cs typeface="Calibri" pitchFamily="34" charset="-120"/>
              </a:rPr>
              <a:t>Q1</a:t>
            </a:r>
            <a:endParaRPr lang="en-US" sz="3200" dirty="0"/>
          </a:p>
        </p:txBody>
      </p:sp>
      <p:sp>
        <p:nvSpPr>
          <p:cNvPr id="45" name="Text 22">
            <a:extLst>
              <a:ext uri="{FF2B5EF4-FFF2-40B4-BE49-F238E27FC236}">
                <a16:creationId xmlns:a16="http://schemas.microsoft.com/office/drawing/2014/main" id="{9BD09892-3BDF-1478-F546-618202A127E4}"/>
              </a:ext>
            </a:extLst>
          </p:cNvPr>
          <p:cNvSpPr/>
          <p:nvPr/>
        </p:nvSpPr>
        <p:spPr>
          <a:xfrm>
            <a:off x="1865377" y="6620688"/>
            <a:ext cx="15544800" cy="1080773"/>
          </a:xfrm>
          <a:prstGeom prst="rect">
            <a:avLst/>
          </a:prstGeom>
          <a:noFill/>
          <a:ln/>
        </p:spPr>
        <p:txBody>
          <a:bodyPr wrap="square" lIns="0" tIns="0" rIns="0" bIns="0" rtlCol="0" anchor="ctr"/>
          <a:lstStyle/>
          <a:p>
            <a:r>
              <a:rPr lang="en-US" sz="3200" dirty="0">
                <a:solidFill>
                  <a:srgbClr val="1E293B"/>
                </a:solidFill>
                <a:ea typeface="Calibri" pitchFamily="34" charset="-122"/>
                <a:cs typeface="Calibri" pitchFamily="34" charset="-120"/>
              </a:rPr>
              <a:t>Which patient subgroups are hardest to predict — and what makes them so?</a:t>
            </a:r>
            <a:endParaRPr lang="en-US" sz="3200" dirty="0"/>
          </a:p>
        </p:txBody>
      </p:sp>
      <p:sp>
        <p:nvSpPr>
          <p:cNvPr id="46" name="Shape 23">
            <a:extLst>
              <a:ext uri="{FF2B5EF4-FFF2-40B4-BE49-F238E27FC236}">
                <a16:creationId xmlns:a16="http://schemas.microsoft.com/office/drawing/2014/main" id="{944FFA52-C228-72E3-61CE-6AD461A3B3B2}"/>
              </a:ext>
            </a:extLst>
          </p:cNvPr>
          <p:cNvSpPr/>
          <p:nvPr/>
        </p:nvSpPr>
        <p:spPr>
          <a:xfrm>
            <a:off x="768097" y="7517125"/>
            <a:ext cx="16800200" cy="1080773"/>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8000"/>
          </a:p>
        </p:txBody>
      </p:sp>
      <p:sp>
        <p:nvSpPr>
          <p:cNvPr id="47" name="Shape 24">
            <a:extLst>
              <a:ext uri="{FF2B5EF4-FFF2-40B4-BE49-F238E27FC236}">
                <a16:creationId xmlns:a16="http://schemas.microsoft.com/office/drawing/2014/main" id="{D3C16AF4-6C98-6FE9-762B-873CD41C8F52}"/>
              </a:ext>
            </a:extLst>
          </p:cNvPr>
          <p:cNvSpPr/>
          <p:nvPr/>
        </p:nvSpPr>
        <p:spPr>
          <a:xfrm>
            <a:off x="768096" y="7517125"/>
            <a:ext cx="960011" cy="1080773"/>
          </a:xfrm>
          <a:prstGeom prst="rect">
            <a:avLst/>
          </a:prstGeom>
          <a:solidFill>
            <a:schemeClr val="accent2"/>
          </a:solidFill>
          <a:ln w="12700">
            <a:solidFill>
              <a:srgbClr val="0D7377"/>
            </a:solidFill>
            <a:prstDash val="solid"/>
          </a:ln>
        </p:spPr>
        <p:txBody>
          <a:bodyPr/>
          <a:lstStyle/>
          <a:p>
            <a:endParaRPr lang="en-US" sz="2800"/>
          </a:p>
        </p:txBody>
      </p:sp>
      <p:sp>
        <p:nvSpPr>
          <p:cNvPr id="48" name="Text 25">
            <a:extLst>
              <a:ext uri="{FF2B5EF4-FFF2-40B4-BE49-F238E27FC236}">
                <a16:creationId xmlns:a16="http://schemas.microsoft.com/office/drawing/2014/main" id="{869F3987-271E-6D96-2CE7-2D51CDC8F8F5}"/>
              </a:ext>
            </a:extLst>
          </p:cNvPr>
          <p:cNvSpPr/>
          <p:nvPr/>
        </p:nvSpPr>
        <p:spPr>
          <a:xfrm>
            <a:off x="768096" y="7517125"/>
            <a:ext cx="960011" cy="1080773"/>
          </a:xfrm>
          <a:prstGeom prst="rect">
            <a:avLst/>
          </a:prstGeom>
          <a:noFill/>
          <a:ln/>
        </p:spPr>
        <p:txBody>
          <a:bodyPr wrap="square" lIns="0" tIns="0" rIns="0" bIns="0" rtlCol="0" anchor="ctr"/>
          <a:lstStyle/>
          <a:p>
            <a:pPr algn="ctr"/>
            <a:r>
              <a:rPr lang="en-US" sz="3200" b="1" dirty="0">
                <a:solidFill>
                  <a:srgbClr val="FFFFFF"/>
                </a:solidFill>
                <a:ea typeface="Calibri" pitchFamily="34" charset="-122"/>
                <a:cs typeface="Calibri" pitchFamily="34" charset="-120"/>
              </a:rPr>
              <a:t>Q2</a:t>
            </a:r>
            <a:endParaRPr lang="en-US" sz="3200" dirty="0"/>
          </a:p>
        </p:txBody>
      </p:sp>
      <p:sp>
        <p:nvSpPr>
          <p:cNvPr id="49" name="Text 26">
            <a:extLst>
              <a:ext uri="{FF2B5EF4-FFF2-40B4-BE49-F238E27FC236}">
                <a16:creationId xmlns:a16="http://schemas.microsoft.com/office/drawing/2014/main" id="{82398BBD-16F2-02C1-AD8B-9CFC9CBA1176}"/>
              </a:ext>
            </a:extLst>
          </p:cNvPr>
          <p:cNvSpPr/>
          <p:nvPr/>
        </p:nvSpPr>
        <p:spPr>
          <a:xfrm>
            <a:off x="1865377" y="7526107"/>
            <a:ext cx="15544800" cy="1080773"/>
          </a:xfrm>
          <a:prstGeom prst="rect">
            <a:avLst/>
          </a:prstGeom>
          <a:noFill/>
          <a:ln/>
        </p:spPr>
        <p:txBody>
          <a:bodyPr wrap="square" lIns="0" tIns="0" rIns="0" bIns="0" rtlCol="0" anchor="ctr"/>
          <a:lstStyle/>
          <a:p>
            <a:r>
              <a:rPr lang="en-US" sz="3200" dirty="0">
                <a:solidFill>
                  <a:srgbClr val="1E293B"/>
                </a:solidFill>
                <a:ea typeface="Calibri" pitchFamily="34" charset="-122"/>
                <a:cs typeface="Calibri" pitchFamily="34" charset="-120"/>
              </a:rPr>
              <a:t>What signals at admission most reliably indicate a prolonged stay?</a:t>
            </a:r>
            <a:endParaRPr lang="en-US" sz="3200" dirty="0"/>
          </a:p>
        </p:txBody>
      </p:sp>
      <p:sp>
        <p:nvSpPr>
          <p:cNvPr id="50" name="Shape 27">
            <a:extLst>
              <a:ext uri="{FF2B5EF4-FFF2-40B4-BE49-F238E27FC236}">
                <a16:creationId xmlns:a16="http://schemas.microsoft.com/office/drawing/2014/main" id="{C7E3FB7D-5F3D-5AB7-9D5F-62202D31F1D9}"/>
              </a:ext>
            </a:extLst>
          </p:cNvPr>
          <p:cNvSpPr/>
          <p:nvPr/>
        </p:nvSpPr>
        <p:spPr>
          <a:xfrm>
            <a:off x="768097" y="8431525"/>
            <a:ext cx="16800200" cy="1080773"/>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8000"/>
          </a:p>
        </p:txBody>
      </p:sp>
      <p:sp>
        <p:nvSpPr>
          <p:cNvPr id="51" name="Shape 28">
            <a:extLst>
              <a:ext uri="{FF2B5EF4-FFF2-40B4-BE49-F238E27FC236}">
                <a16:creationId xmlns:a16="http://schemas.microsoft.com/office/drawing/2014/main" id="{E5971555-31F3-B4DA-B129-162728BF06A9}"/>
              </a:ext>
            </a:extLst>
          </p:cNvPr>
          <p:cNvSpPr/>
          <p:nvPr/>
        </p:nvSpPr>
        <p:spPr>
          <a:xfrm>
            <a:off x="768096" y="8431525"/>
            <a:ext cx="960011" cy="1080773"/>
          </a:xfrm>
          <a:prstGeom prst="rect">
            <a:avLst/>
          </a:prstGeom>
          <a:solidFill>
            <a:schemeClr val="accent2">
              <a:lumMod val="40000"/>
              <a:lumOff val="60000"/>
            </a:schemeClr>
          </a:solidFill>
          <a:ln w="12700">
            <a:solidFill>
              <a:srgbClr val="14A09A"/>
            </a:solidFill>
            <a:prstDash val="solid"/>
          </a:ln>
        </p:spPr>
        <p:txBody>
          <a:bodyPr/>
          <a:lstStyle/>
          <a:p>
            <a:endParaRPr lang="en-US" sz="8000" dirty="0"/>
          </a:p>
        </p:txBody>
      </p:sp>
      <p:sp>
        <p:nvSpPr>
          <p:cNvPr id="52" name="Text 29">
            <a:extLst>
              <a:ext uri="{FF2B5EF4-FFF2-40B4-BE49-F238E27FC236}">
                <a16:creationId xmlns:a16="http://schemas.microsoft.com/office/drawing/2014/main" id="{B09689B7-AF6E-7EC9-245A-E5970375F065}"/>
              </a:ext>
            </a:extLst>
          </p:cNvPr>
          <p:cNvSpPr/>
          <p:nvPr/>
        </p:nvSpPr>
        <p:spPr>
          <a:xfrm>
            <a:off x="768096" y="8431525"/>
            <a:ext cx="960011" cy="1080773"/>
          </a:xfrm>
          <a:prstGeom prst="rect">
            <a:avLst/>
          </a:prstGeom>
          <a:noFill/>
          <a:ln/>
        </p:spPr>
        <p:txBody>
          <a:bodyPr wrap="square" lIns="0" tIns="0" rIns="0" bIns="0" rtlCol="0" anchor="ctr"/>
          <a:lstStyle/>
          <a:p>
            <a:pPr algn="ctr"/>
            <a:r>
              <a:rPr lang="en-US" sz="3200" b="1" dirty="0">
                <a:solidFill>
                  <a:srgbClr val="FFFFFF"/>
                </a:solidFill>
                <a:ea typeface="Calibri" pitchFamily="34" charset="-122"/>
                <a:cs typeface="Calibri" pitchFamily="34" charset="-120"/>
              </a:rPr>
              <a:t>Q3</a:t>
            </a:r>
            <a:endParaRPr lang="en-US" sz="3200" dirty="0"/>
          </a:p>
        </p:txBody>
      </p:sp>
      <p:sp>
        <p:nvSpPr>
          <p:cNvPr id="53" name="Text 30">
            <a:extLst>
              <a:ext uri="{FF2B5EF4-FFF2-40B4-BE49-F238E27FC236}">
                <a16:creationId xmlns:a16="http://schemas.microsoft.com/office/drawing/2014/main" id="{829C9F4F-112A-12FE-BF55-57FFB1B2210E}"/>
              </a:ext>
            </a:extLst>
          </p:cNvPr>
          <p:cNvSpPr/>
          <p:nvPr/>
        </p:nvSpPr>
        <p:spPr>
          <a:xfrm>
            <a:off x="1865377" y="8431525"/>
            <a:ext cx="15544800" cy="1080773"/>
          </a:xfrm>
          <a:prstGeom prst="rect">
            <a:avLst/>
          </a:prstGeom>
          <a:noFill/>
          <a:ln/>
        </p:spPr>
        <p:txBody>
          <a:bodyPr wrap="square" lIns="0" tIns="0" rIns="0" bIns="0" rtlCol="0" anchor="ctr"/>
          <a:lstStyle/>
          <a:p>
            <a:r>
              <a:rPr lang="en-US" sz="3200" dirty="0">
                <a:solidFill>
                  <a:srgbClr val="1E293B"/>
                </a:solidFill>
                <a:ea typeface="Calibri" pitchFamily="34" charset="-122"/>
                <a:cs typeface="Calibri" pitchFamily="34" charset="-120"/>
              </a:rPr>
              <a:t>Can encounter-level data alone flag patients ready for early discharge?</a:t>
            </a:r>
            <a:endParaRPr lang="en-US" sz="3200" dirty="0"/>
          </a:p>
        </p:txBody>
      </p:sp>
      <p:grpSp>
        <p:nvGrpSpPr>
          <p:cNvPr id="3" name="Group 2">
            <a:extLst>
              <a:ext uri="{FF2B5EF4-FFF2-40B4-BE49-F238E27FC236}">
                <a16:creationId xmlns:a16="http://schemas.microsoft.com/office/drawing/2014/main" id="{465E8B43-B711-45D1-A35D-1BFED8011A2E}"/>
              </a:ext>
            </a:extLst>
          </p:cNvPr>
          <p:cNvGrpSpPr/>
          <p:nvPr/>
        </p:nvGrpSpPr>
        <p:grpSpPr>
          <a:xfrm>
            <a:off x="768096" y="2274149"/>
            <a:ext cx="16550640" cy="3173072"/>
            <a:chOff x="768096" y="2286000"/>
            <a:chExt cx="16550640" cy="3483749"/>
          </a:xfrm>
        </p:grpSpPr>
        <p:sp>
          <p:nvSpPr>
            <p:cNvPr id="31" name="Shape 8">
              <a:extLst>
                <a:ext uri="{FF2B5EF4-FFF2-40B4-BE49-F238E27FC236}">
                  <a16:creationId xmlns:a16="http://schemas.microsoft.com/office/drawing/2014/main" id="{06F0AC2E-169E-B445-9B35-B1F329DACE36}"/>
                </a:ext>
              </a:extLst>
            </p:cNvPr>
            <p:cNvSpPr/>
            <p:nvPr/>
          </p:nvSpPr>
          <p:spPr>
            <a:xfrm>
              <a:off x="768096" y="2286000"/>
              <a:ext cx="5212080" cy="3483749"/>
            </a:xfrm>
            <a:prstGeom prst="rect">
              <a:avLst/>
            </a:prstGeom>
            <a:solidFill>
              <a:schemeClr val="bg2"/>
            </a:solidFill>
            <a:ln w="12700">
              <a:solidFill>
                <a:srgbClr val="1B3A6B"/>
              </a:solidFill>
              <a:prstDash val="solid"/>
            </a:ln>
            <a:effectLst>
              <a:outerShdw blurRad="101600" dist="38100" dir="8100000" algn="bl" rotWithShape="0">
                <a:srgbClr val="000000">
                  <a:alpha val="10000"/>
                </a:srgbClr>
              </a:outerShdw>
            </a:effectLst>
          </p:spPr>
          <p:txBody>
            <a:bodyPr/>
            <a:lstStyle/>
            <a:p>
              <a:endParaRPr lang="en-US" sz="2400" dirty="0">
                <a:solidFill>
                  <a:schemeClr val="bg2"/>
                </a:solidFill>
              </a:endParaRPr>
            </a:p>
          </p:txBody>
        </p:sp>
        <p:sp>
          <p:nvSpPr>
            <p:cNvPr id="32" name="Text 9">
              <a:extLst>
                <a:ext uri="{FF2B5EF4-FFF2-40B4-BE49-F238E27FC236}">
                  <a16:creationId xmlns:a16="http://schemas.microsoft.com/office/drawing/2014/main" id="{143388CF-9F5D-CAB9-FAFF-5A1E4D360CAB}"/>
                </a:ext>
              </a:extLst>
            </p:cNvPr>
            <p:cNvSpPr/>
            <p:nvPr/>
          </p:nvSpPr>
          <p:spPr>
            <a:xfrm>
              <a:off x="987102" y="2427993"/>
              <a:ext cx="4059936" cy="1060704"/>
            </a:xfrm>
            <a:prstGeom prst="rect">
              <a:avLst/>
            </a:prstGeom>
            <a:noFill/>
            <a:ln/>
          </p:spPr>
          <p:txBody>
            <a:bodyPr wrap="square" lIns="0" tIns="0" rIns="0" bIns="0" rtlCol="0" anchor="ctr"/>
            <a:lstStyle/>
            <a:p>
              <a:pPr algn="ctr"/>
              <a:r>
                <a:rPr lang="en-US" b="1" dirty="0">
                  <a:solidFill>
                    <a:srgbClr val="FFFFFF"/>
                  </a:solidFill>
                  <a:ea typeface="Calibri" pitchFamily="34" charset="-122"/>
                  <a:cs typeface="Calibri" pitchFamily="34" charset="-120"/>
                </a:rPr>
                <a:t>Overcrowded</a:t>
              </a:r>
              <a:endParaRPr lang="en-US" sz="3200" b="1" dirty="0">
                <a:solidFill>
                  <a:srgbClr val="FFFFFF"/>
                </a:solidFill>
                <a:ea typeface="Calibri" pitchFamily="34" charset="-122"/>
                <a:cs typeface="Calibri" pitchFamily="34" charset="-120"/>
              </a:endParaRPr>
            </a:p>
          </p:txBody>
        </p:sp>
        <p:sp>
          <p:nvSpPr>
            <p:cNvPr id="33" name="Text 10">
              <a:extLst>
                <a:ext uri="{FF2B5EF4-FFF2-40B4-BE49-F238E27FC236}">
                  <a16:creationId xmlns:a16="http://schemas.microsoft.com/office/drawing/2014/main" id="{D2C7240F-6C86-58A6-B0D3-14B8F1EADE2B}"/>
                </a:ext>
              </a:extLst>
            </p:cNvPr>
            <p:cNvSpPr/>
            <p:nvPr/>
          </p:nvSpPr>
          <p:spPr>
            <a:xfrm>
              <a:off x="768096" y="3364992"/>
              <a:ext cx="5212080" cy="585216"/>
            </a:xfrm>
            <a:prstGeom prst="rect">
              <a:avLst/>
            </a:prstGeom>
            <a:noFill/>
            <a:ln/>
          </p:spPr>
          <p:txBody>
            <a:bodyPr wrap="square" lIns="0" tIns="0" rIns="0" bIns="0" rtlCol="0" anchor="ctr"/>
            <a:lstStyle/>
            <a:p>
              <a:pPr algn="ctr"/>
              <a:endParaRPr lang="en-US" sz="2000" dirty="0"/>
            </a:p>
          </p:txBody>
        </p:sp>
        <p:sp>
          <p:nvSpPr>
            <p:cNvPr id="34" name="Shape 11">
              <a:extLst>
                <a:ext uri="{FF2B5EF4-FFF2-40B4-BE49-F238E27FC236}">
                  <a16:creationId xmlns:a16="http://schemas.microsoft.com/office/drawing/2014/main" id="{23950AC2-3323-3830-D422-5565914CDD11}"/>
                </a:ext>
              </a:extLst>
            </p:cNvPr>
            <p:cNvSpPr/>
            <p:nvPr/>
          </p:nvSpPr>
          <p:spPr>
            <a:xfrm>
              <a:off x="6437376" y="2286000"/>
              <a:ext cx="5212080" cy="3483749"/>
            </a:xfrm>
            <a:prstGeom prst="rect">
              <a:avLst/>
            </a:prstGeom>
            <a:solidFill>
              <a:schemeClr val="accent2"/>
            </a:solidFill>
            <a:ln w="12700">
              <a:solidFill>
                <a:srgbClr val="1B3A6B"/>
              </a:solidFill>
              <a:prstDash val="solid"/>
            </a:ln>
            <a:effectLst>
              <a:outerShdw blurRad="101600" dist="38100" dir="8100000" algn="bl" rotWithShape="0">
                <a:srgbClr val="000000">
                  <a:alpha val="10000"/>
                </a:srgbClr>
              </a:outerShdw>
            </a:effectLst>
          </p:spPr>
          <p:txBody>
            <a:bodyPr/>
            <a:lstStyle/>
            <a:p>
              <a:pPr algn="ctr"/>
              <a:endParaRPr lang="en-US" sz="7200" dirty="0"/>
            </a:p>
          </p:txBody>
        </p:sp>
        <p:sp>
          <p:nvSpPr>
            <p:cNvPr id="35" name="Text 12">
              <a:extLst>
                <a:ext uri="{FF2B5EF4-FFF2-40B4-BE49-F238E27FC236}">
                  <a16:creationId xmlns:a16="http://schemas.microsoft.com/office/drawing/2014/main" id="{E53A54AC-8DB3-F093-9FDE-6541B5218C4D}"/>
                </a:ext>
              </a:extLst>
            </p:cNvPr>
            <p:cNvSpPr/>
            <p:nvPr/>
          </p:nvSpPr>
          <p:spPr>
            <a:xfrm>
              <a:off x="6419563" y="2431483"/>
              <a:ext cx="4476312" cy="981782"/>
            </a:xfrm>
            <a:prstGeom prst="rect">
              <a:avLst/>
            </a:prstGeom>
            <a:noFill/>
            <a:ln/>
          </p:spPr>
          <p:txBody>
            <a:bodyPr wrap="square" lIns="0" tIns="0" rIns="0" bIns="0" rtlCol="0" anchor="ctr"/>
            <a:lstStyle/>
            <a:p>
              <a:pPr algn="ctr"/>
              <a:r>
                <a:rPr lang="en-US" b="1" dirty="0">
                  <a:solidFill>
                    <a:srgbClr val="FFFFFF"/>
                  </a:solidFill>
                  <a:ea typeface="Calibri" pitchFamily="34" charset="-122"/>
                  <a:cs typeface="Calibri" pitchFamily="34" charset="-120"/>
                </a:rPr>
                <a:t>Waste of Resources</a:t>
              </a:r>
              <a:endParaRPr lang="en-US" dirty="0"/>
            </a:p>
          </p:txBody>
        </p:sp>
        <p:sp>
          <p:nvSpPr>
            <p:cNvPr id="37" name="Shape 14">
              <a:extLst>
                <a:ext uri="{FF2B5EF4-FFF2-40B4-BE49-F238E27FC236}">
                  <a16:creationId xmlns:a16="http://schemas.microsoft.com/office/drawing/2014/main" id="{3E61661C-23AB-2BE2-83F0-20F40C9B272B}"/>
                </a:ext>
              </a:extLst>
            </p:cNvPr>
            <p:cNvSpPr/>
            <p:nvPr/>
          </p:nvSpPr>
          <p:spPr>
            <a:xfrm>
              <a:off x="12106656" y="2286000"/>
              <a:ext cx="5212080" cy="3483749"/>
            </a:xfrm>
            <a:prstGeom prst="rect">
              <a:avLst/>
            </a:prstGeom>
            <a:solidFill>
              <a:schemeClr val="accent2">
                <a:lumMod val="40000"/>
                <a:lumOff val="60000"/>
              </a:schemeClr>
            </a:solidFill>
            <a:ln w="12700">
              <a:solidFill>
                <a:srgbClr val="1B3A6B"/>
              </a:solidFill>
              <a:prstDash val="solid"/>
            </a:ln>
            <a:effectLst>
              <a:outerShdw blurRad="101600" dist="38100" dir="8100000" algn="bl" rotWithShape="0">
                <a:srgbClr val="000000">
                  <a:alpha val="10000"/>
                </a:srgbClr>
              </a:outerShdw>
            </a:effectLst>
          </p:spPr>
          <p:txBody>
            <a:bodyPr/>
            <a:lstStyle/>
            <a:p>
              <a:endParaRPr lang="en-US" sz="7200" dirty="0"/>
            </a:p>
          </p:txBody>
        </p:sp>
        <p:sp>
          <p:nvSpPr>
            <p:cNvPr id="38" name="Text 15">
              <a:extLst>
                <a:ext uri="{FF2B5EF4-FFF2-40B4-BE49-F238E27FC236}">
                  <a16:creationId xmlns:a16="http://schemas.microsoft.com/office/drawing/2014/main" id="{05F48E7F-25B3-45AB-9F78-528E5BA57B37}"/>
                </a:ext>
              </a:extLst>
            </p:cNvPr>
            <p:cNvSpPr/>
            <p:nvPr/>
          </p:nvSpPr>
          <p:spPr>
            <a:xfrm>
              <a:off x="12668712" y="2427993"/>
              <a:ext cx="2935224" cy="1060704"/>
            </a:xfrm>
            <a:prstGeom prst="rect">
              <a:avLst/>
            </a:prstGeom>
            <a:noFill/>
            <a:ln/>
          </p:spPr>
          <p:txBody>
            <a:bodyPr wrap="square" lIns="0" tIns="0" rIns="0" bIns="0" rtlCol="0" anchor="ctr"/>
            <a:lstStyle/>
            <a:p>
              <a:pPr algn="ctr"/>
              <a:r>
                <a:rPr lang="en-US" b="1" dirty="0">
                  <a:ea typeface="Calibri" pitchFamily="34" charset="-122"/>
                  <a:cs typeface="Calibri" pitchFamily="34" charset="-120"/>
                </a:rPr>
                <a:t>Delays in Care</a:t>
              </a:r>
              <a:endParaRPr lang="en-US" dirty="0"/>
            </a:p>
          </p:txBody>
        </p:sp>
        <p:sp>
          <p:nvSpPr>
            <p:cNvPr id="39" name="Text 16">
              <a:extLst>
                <a:ext uri="{FF2B5EF4-FFF2-40B4-BE49-F238E27FC236}">
                  <a16:creationId xmlns:a16="http://schemas.microsoft.com/office/drawing/2014/main" id="{04AABEBE-501A-B1B2-1C5D-BFA195FE59F4}"/>
                </a:ext>
              </a:extLst>
            </p:cNvPr>
            <p:cNvSpPr/>
            <p:nvPr/>
          </p:nvSpPr>
          <p:spPr>
            <a:xfrm>
              <a:off x="12106656" y="3364992"/>
              <a:ext cx="5212080" cy="585216"/>
            </a:xfrm>
            <a:prstGeom prst="rect">
              <a:avLst/>
            </a:prstGeom>
            <a:noFill/>
            <a:ln/>
          </p:spPr>
          <p:txBody>
            <a:bodyPr wrap="square" lIns="0" tIns="0" rIns="0" bIns="0" rtlCol="0" anchor="ctr"/>
            <a:lstStyle/>
            <a:p>
              <a:pPr algn="ctr"/>
              <a:endParaRPr lang="en-US" sz="2000" dirty="0"/>
            </a:p>
          </p:txBody>
        </p:sp>
        <p:pic>
          <p:nvPicPr>
            <p:cNvPr id="54" name="Graphic 53" descr="Group of men with solid fill">
              <a:extLst>
                <a:ext uri="{FF2B5EF4-FFF2-40B4-BE49-F238E27FC236}">
                  <a16:creationId xmlns:a16="http://schemas.microsoft.com/office/drawing/2014/main" id="{0A4B43A4-BC2C-300B-667E-721BB734D1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04591" y="2383210"/>
              <a:ext cx="1103374" cy="1103374"/>
            </a:xfrm>
            <a:prstGeom prst="rect">
              <a:avLst/>
            </a:prstGeom>
          </p:spPr>
        </p:pic>
        <p:pic>
          <p:nvPicPr>
            <p:cNvPr id="55" name="Graphic 54" descr="Recycle outline">
              <a:extLst>
                <a:ext uri="{FF2B5EF4-FFF2-40B4-BE49-F238E27FC236}">
                  <a16:creationId xmlns:a16="http://schemas.microsoft.com/office/drawing/2014/main" id="{DEA4CD14-DAB7-AF01-4902-360ABC97FB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21085" y="2383210"/>
              <a:ext cx="914400" cy="914400"/>
            </a:xfrm>
            <a:prstGeom prst="rect">
              <a:avLst/>
            </a:prstGeom>
          </p:spPr>
        </p:pic>
        <p:pic>
          <p:nvPicPr>
            <p:cNvPr id="56" name="Graphic 55" descr="Inpatient with solid fill">
              <a:extLst>
                <a:ext uri="{FF2B5EF4-FFF2-40B4-BE49-F238E27FC236}">
                  <a16:creationId xmlns:a16="http://schemas.microsoft.com/office/drawing/2014/main" id="{9A63E855-16C5-D92C-CAEB-7D5BF7BF02D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960552" y="2383210"/>
              <a:ext cx="1161888" cy="1161888"/>
            </a:xfrm>
            <a:prstGeom prst="rect">
              <a:avLst/>
            </a:prstGeom>
          </p:spPr>
        </p:pic>
        <p:sp>
          <p:nvSpPr>
            <p:cNvPr id="2" name="TextBox 1">
              <a:extLst>
                <a:ext uri="{FF2B5EF4-FFF2-40B4-BE49-F238E27FC236}">
                  <a16:creationId xmlns:a16="http://schemas.microsoft.com/office/drawing/2014/main" id="{51B1E4E2-57B5-45CD-83F3-7F16EA0C72DC}"/>
                </a:ext>
              </a:extLst>
            </p:cNvPr>
            <p:cNvSpPr txBox="1"/>
            <p:nvPr/>
          </p:nvSpPr>
          <p:spPr>
            <a:xfrm>
              <a:off x="1423192" y="3556416"/>
              <a:ext cx="3901888" cy="2162631"/>
            </a:xfrm>
            <a:prstGeom prst="rect">
              <a:avLst/>
            </a:prstGeom>
            <a:noFill/>
          </p:spPr>
          <p:txBody>
            <a:bodyPr wrap="square" lIns="0" tIns="0" rIns="0" bIns="0" rtlCol="0">
              <a:spAutoFit/>
            </a:bodyPr>
            <a:lstStyle/>
            <a:p>
              <a:pPr algn="ctr"/>
              <a:r>
                <a:rPr lang="en-US" b="1" dirty="0">
                  <a:solidFill>
                    <a:schemeClr val="bg1">
                      <a:lumMod val="95000"/>
                    </a:schemeClr>
                  </a:solidFill>
                </a:rPr>
                <a:t>85–95%</a:t>
              </a:r>
            </a:p>
            <a:p>
              <a:pPr algn="ctr"/>
              <a:r>
                <a:rPr lang="en-US" sz="2800" dirty="0">
                  <a:solidFill>
                    <a:schemeClr val="bg1">
                      <a:lumMod val="95000"/>
                    </a:schemeClr>
                  </a:solidFill>
                </a:rPr>
                <a:t>Bed occupancy</a:t>
              </a:r>
            </a:p>
            <a:p>
              <a:pPr algn="ctr"/>
              <a:r>
                <a:rPr lang="en-US" b="1" dirty="0">
                  <a:solidFill>
                    <a:schemeClr val="bg1">
                      <a:lumMod val="95000"/>
                    </a:schemeClr>
                  </a:solidFill>
                </a:rPr>
                <a:t>4–6 </a:t>
              </a:r>
              <a:r>
                <a:rPr lang="en-US" b="1" dirty="0" err="1">
                  <a:solidFill>
                    <a:schemeClr val="bg1">
                      <a:lumMod val="95000"/>
                    </a:schemeClr>
                  </a:solidFill>
                </a:rPr>
                <a:t>hrs</a:t>
              </a:r>
              <a:endParaRPr lang="en-US" b="1" dirty="0">
                <a:solidFill>
                  <a:schemeClr val="bg1">
                    <a:lumMod val="95000"/>
                  </a:schemeClr>
                </a:solidFill>
              </a:endParaRPr>
            </a:p>
            <a:p>
              <a:pPr algn="ctr"/>
              <a:r>
                <a:rPr lang="en-US" sz="2800" dirty="0">
                  <a:solidFill>
                    <a:schemeClr val="bg1">
                      <a:lumMod val="95000"/>
                    </a:schemeClr>
                  </a:solidFill>
                </a:rPr>
                <a:t>ER wait time</a:t>
              </a:r>
            </a:p>
          </p:txBody>
        </p:sp>
        <p:sp>
          <p:nvSpPr>
            <p:cNvPr id="30" name="TextBox 29">
              <a:extLst>
                <a:ext uri="{FF2B5EF4-FFF2-40B4-BE49-F238E27FC236}">
                  <a16:creationId xmlns:a16="http://schemas.microsoft.com/office/drawing/2014/main" id="{FD38FAE1-83DD-4296-AE97-82F20C7997BC}"/>
                </a:ext>
              </a:extLst>
            </p:cNvPr>
            <p:cNvSpPr txBox="1"/>
            <p:nvPr/>
          </p:nvSpPr>
          <p:spPr>
            <a:xfrm>
              <a:off x="7045952" y="3556416"/>
              <a:ext cx="3901888" cy="2162631"/>
            </a:xfrm>
            <a:prstGeom prst="rect">
              <a:avLst/>
            </a:prstGeom>
            <a:noFill/>
          </p:spPr>
          <p:txBody>
            <a:bodyPr wrap="square" lIns="0" tIns="0" rIns="0" bIns="0" rtlCol="0">
              <a:spAutoFit/>
            </a:bodyPr>
            <a:lstStyle/>
            <a:p>
              <a:pPr algn="ctr"/>
              <a:r>
                <a:rPr lang="en-US" b="1" dirty="0">
                  <a:solidFill>
                    <a:schemeClr val="bg1">
                      <a:lumMod val="95000"/>
                    </a:schemeClr>
                  </a:solidFill>
                </a:rPr>
                <a:t>10–15%</a:t>
              </a:r>
            </a:p>
            <a:p>
              <a:pPr algn="ctr"/>
              <a:r>
                <a:rPr lang="en-US" sz="2800" dirty="0">
                  <a:solidFill>
                    <a:schemeClr val="bg1">
                      <a:lumMod val="95000"/>
                    </a:schemeClr>
                  </a:solidFill>
                </a:rPr>
                <a:t>Unused beds</a:t>
              </a:r>
            </a:p>
            <a:p>
              <a:pPr algn="ctr"/>
              <a:r>
                <a:rPr lang="en-US" b="1" dirty="0">
                  <a:solidFill>
                    <a:schemeClr val="bg1">
                      <a:lumMod val="95000"/>
                    </a:schemeClr>
                  </a:solidFill>
                </a:rPr>
                <a:t>$2K–$4K</a:t>
              </a:r>
            </a:p>
            <a:p>
              <a:pPr algn="ctr"/>
              <a:r>
                <a:rPr lang="en-US" sz="2800" dirty="0">
                  <a:solidFill>
                    <a:schemeClr val="bg1">
                      <a:lumMod val="95000"/>
                    </a:schemeClr>
                  </a:solidFill>
                </a:rPr>
                <a:t>Cost per extra day</a:t>
              </a:r>
            </a:p>
          </p:txBody>
        </p:sp>
        <p:sp>
          <p:nvSpPr>
            <p:cNvPr id="36" name="TextBox 35">
              <a:extLst>
                <a:ext uri="{FF2B5EF4-FFF2-40B4-BE49-F238E27FC236}">
                  <a16:creationId xmlns:a16="http://schemas.microsoft.com/office/drawing/2014/main" id="{FD326038-1AE7-4017-B073-94F031952770}"/>
                </a:ext>
              </a:extLst>
            </p:cNvPr>
            <p:cNvSpPr txBox="1"/>
            <p:nvPr/>
          </p:nvSpPr>
          <p:spPr>
            <a:xfrm>
              <a:off x="12515936" y="3540198"/>
              <a:ext cx="4453728" cy="2162631"/>
            </a:xfrm>
            <a:prstGeom prst="rect">
              <a:avLst/>
            </a:prstGeom>
            <a:noFill/>
          </p:spPr>
          <p:txBody>
            <a:bodyPr wrap="square" lIns="0" tIns="0" rIns="0" bIns="0" rtlCol="0">
              <a:spAutoFit/>
            </a:bodyPr>
            <a:lstStyle/>
            <a:p>
              <a:pPr algn="ctr"/>
              <a:r>
                <a:rPr lang="en-US" b="1" dirty="0"/>
                <a:t>20–40%</a:t>
              </a:r>
            </a:p>
            <a:p>
              <a:pPr algn="ctr"/>
              <a:r>
                <a:rPr lang="en-US" sz="2800" dirty="0"/>
                <a:t>Longer wait times</a:t>
              </a:r>
            </a:p>
            <a:p>
              <a:pPr algn="ctr"/>
              <a:r>
                <a:rPr lang="en-US" b="1" dirty="0"/>
                <a:t>+0.5–1 day</a:t>
              </a:r>
            </a:p>
            <a:p>
              <a:pPr algn="ctr"/>
              <a:r>
                <a:rPr lang="en-US" sz="2800" dirty="0"/>
                <a:t>Per patient delay</a:t>
              </a:r>
            </a:p>
          </p:txBody>
        </p:sp>
      </p:grpSp>
    </p:spTree>
    <p:custDataLst>
      <p:tags r:id="rId1"/>
    </p:custDataLst>
    <p:extLst>
      <p:ext uri="{BB962C8B-B14F-4D97-AF65-F5344CB8AC3E}">
        <p14:creationId xmlns:p14="http://schemas.microsoft.com/office/powerpoint/2010/main" val="227031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9F24-CB43-A05A-0DE7-DBFE22717AB0}"/>
              </a:ext>
            </a:extLst>
          </p:cNvPr>
          <p:cNvSpPr>
            <a:spLocks noGrp="1"/>
          </p:cNvSpPr>
          <p:nvPr>
            <p:ph type="title"/>
          </p:nvPr>
        </p:nvSpPr>
        <p:spPr>
          <a:xfrm>
            <a:off x="850054" y="648750"/>
            <a:ext cx="15773400" cy="775596"/>
          </a:xfrm>
        </p:spPr>
        <p:txBody>
          <a:bodyPr/>
          <a:lstStyle/>
          <a:p>
            <a:r>
              <a:rPr lang="en-US" dirty="0"/>
              <a:t>Data &amp; Analytical Approach</a:t>
            </a:r>
          </a:p>
        </p:txBody>
      </p:sp>
      <p:sp>
        <p:nvSpPr>
          <p:cNvPr id="4" name="Text Placeholder 3">
            <a:extLst>
              <a:ext uri="{FF2B5EF4-FFF2-40B4-BE49-F238E27FC236}">
                <a16:creationId xmlns:a16="http://schemas.microsoft.com/office/drawing/2014/main" id="{25D90952-95E6-6669-9CD0-810A0713A46E}"/>
              </a:ext>
            </a:extLst>
          </p:cNvPr>
          <p:cNvSpPr>
            <a:spLocks noGrp="1"/>
          </p:cNvSpPr>
          <p:nvPr>
            <p:ph type="body" sz="quarter" idx="10"/>
          </p:nvPr>
        </p:nvSpPr>
        <p:spPr>
          <a:xfrm>
            <a:off x="886630" y="1512040"/>
            <a:ext cx="15773400" cy="549382"/>
          </a:xfrm>
        </p:spPr>
        <p:txBody>
          <a:bodyPr/>
          <a:lstStyle/>
          <a:p>
            <a:r>
              <a:rPr lang="en-US" dirty="0">
                <a:ea typeface="Calibri" pitchFamily="34" charset="-122"/>
                <a:cs typeface="Calibri" pitchFamily="34" charset="-120"/>
              </a:rPr>
              <a:t>Dataset, Features &amp; Modeling Approach</a:t>
            </a:r>
            <a:endParaRPr lang="en-US" dirty="0"/>
          </a:p>
          <a:p>
            <a:endParaRPr lang="en-US" dirty="0"/>
          </a:p>
        </p:txBody>
      </p:sp>
      <p:sp>
        <p:nvSpPr>
          <p:cNvPr id="6" name="Shape 4">
            <a:extLst>
              <a:ext uri="{FF2B5EF4-FFF2-40B4-BE49-F238E27FC236}">
                <a16:creationId xmlns:a16="http://schemas.microsoft.com/office/drawing/2014/main" id="{8CACB7AF-4510-4FD4-9BE1-07ECB58FE36C}"/>
              </a:ext>
            </a:extLst>
          </p:cNvPr>
          <p:cNvSpPr/>
          <p:nvPr/>
        </p:nvSpPr>
        <p:spPr>
          <a:xfrm>
            <a:off x="940817" y="2913292"/>
            <a:ext cx="7724603" cy="1377524"/>
          </a:xfrm>
          <a:prstGeom prst="rect">
            <a:avLst/>
          </a:prstGeom>
          <a:noFill/>
          <a:ln/>
        </p:spPr>
        <p:style>
          <a:lnRef idx="1">
            <a:schemeClr val="accent1"/>
          </a:lnRef>
          <a:fillRef idx="3">
            <a:schemeClr val="accent1"/>
          </a:fillRef>
          <a:effectRef idx="2">
            <a:schemeClr val="accent1"/>
          </a:effectRef>
          <a:fontRef idx="minor">
            <a:schemeClr val="lt1"/>
          </a:fontRef>
        </p:style>
        <p:txBody>
          <a:bodyPr/>
          <a:lstStyle/>
          <a:p>
            <a:endParaRPr lang="en-US" sz="7200"/>
          </a:p>
        </p:txBody>
      </p:sp>
      <p:sp>
        <p:nvSpPr>
          <p:cNvPr id="7" name="Text 5">
            <a:extLst>
              <a:ext uri="{FF2B5EF4-FFF2-40B4-BE49-F238E27FC236}">
                <a16:creationId xmlns:a16="http://schemas.microsoft.com/office/drawing/2014/main" id="{D1BB85AC-E521-4582-8A82-C2AFA6E4E774}"/>
              </a:ext>
            </a:extLst>
          </p:cNvPr>
          <p:cNvSpPr/>
          <p:nvPr/>
        </p:nvSpPr>
        <p:spPr>
          <a:xfrm>
            <a:off x="1112474" y="3254582"/>
            <a:ext cx="7381287" cy="694944"/>
          </a:xfrm>
          <a:prstGeom prst="rect">
            <a:avLst/>
          </a:prstGeom>
          <a:noFill/>
          <a:ln/>
        </p:spPr>
        <p:txBody>
          <a:bodyPr wrap="square" lIns="0" tIns="0" rIns="0" bIns="0" rtlCol="0" anchor="ctr"/>
          <a:lstStyle/>
          <a:p>
            <a:pPr algn="ctr">
              <a:lnSpc>
                <a:spcPct val="150000"/>
              </a:lnSpc>
            </a:pPr>
            <a:r>
              <a:rPr lang="en-US" sz="2800" b="1" dirty="0">
                <a:ea typeface="Calibri" pitchFamily="34" charset="-122"/>
                <a:cs typeface="Calibri" pitchFamily="34" charset="-120"/>
              </a:rPr>
              <a:t>UCI Diabetes 130-US Hospitals  </a:t>
            </a:r>
          </a:p>
          <a:p>
            <a:pPr algn="ctr">
              <a:lnSpc>
                <a:spcPct val="150000"/>
              </a:lnSpc>
            </a:pPr>
            <a:r>
              <a:rPr lang="en-US" sz="2800" dirty="0">
                <a:ea typeface="Calibri" pitchFamily="34" charset="-122"/>
                <a:cs typeface="Calibri" pitchFamily="34" charset="-120"/>
              </a:rPr>
              <a:t>101K patients from 130 hospitals</a:t>
            </a:r>
            <a:endParaRPr lang="en-US" sz="2800" dirty="0"/>
          </a:p>
        </p:txBody>
      </p:sp>
      <p:sp>
        <p:nvSpPr>
          <p:cNvPr id="22" name="Text 20">
            <a:extLst>
              <a:ext uri="{FF2B5EF4-FFF2-40B4-BE49-F238E27FC236}">
                <a16:creationId xmlns:a16="http://schemas.microsoft.com/office/drawing/2014/main" id="{67D7422B-F92A-4C04-B1E9-312822E566E8}"/>
              </a:ext>
            </a:extLst>
          </p:cNvPr>
          <p:cNvSpPr/>
          <p:nvPr/>
        </p:nvSpPr>
        <p:spPr>
          <a:xfrm>
            <a:off x="940817" y="2254492"/>
            <a:ext cx="8229600" cy="402336"/>
          </a:xfrm>
          <a:prstGeom prst="rect">
            <a:avLst/>
          </a:prstGeom>
          <a:noFill/>
          <a:ln/>
        </p:spPr>
        <p:txBody>
          <a:bodyPr wrap="square" lIns="0" tIns="0" rIns="0" bIns="0" rtlCol="0" anchor="ctr"/>
          <a:lstStyle/>
          <a:p>
            <a:r>
              <a:rPr lang="en-US" sz="3200" b="1" kern="0" spc="400" dirty="0">
                <a:solidFill>
                  <a:schemeClr val="accent1"/>
                </a:solidFill>
                <a:ea typeface="Calibri" pitchFamily="34" charset="-122"/>
                <a:cs typeface="Calibri" pitchFamily="34" charset="-120"/>
              </a:rPr>
              <a:t>DATA SOURCE</a:t>
            </a:r>
            <a:endParaRPr lang="en-US" sz="3200" dirty="0">
              <a:solidFill>
                <a:schemeClr val="accent1"/>
              </a:solidFill>
            </a:endParaRPr>
          </a:p>
        </p:txBody>
      </p:sp>
      <p:sp>
        <p:nvSpPr>
          <p:cNvPr id="23" name="Shape 21">
            <a:extLst>
              <a:ext uri="{FF2B5EF4-FFF2-40B4-BE49-F238E27FC236}">
                <a16:creationId xmlns:a16="http://schemas.microsoft.com/office/drawing/2014/main" id="{108209F3-C51A-4706-BF93-C9ED1C02EFCC}"/>
              </a:ext>
            </a:extLst>
          </p:cNvPr>
          <p:cNvSpPr/>
          <p:nvPr/>
        </p:nvSpPr>
        <p:spPr>
          <a:xfrm>
            <a:off x="904242" y="7053809"/>
            <a:ext cx="3648794" cy="923544"/>
          </a:xfrm>
          <a:prstGeom prst="rect">
            <a:avLst/>
          </a:prstGeom>
          <a:ln/>
        </p:spPr>
        <p:style>
          <a:lnRef idx="3">
            <a:schemeClr val="lt1"/>
          </a:lnRef>
          <a:fillRef idx="1">
            <a:schemeClr val="accent1"/>
          </a:fillRef>
          <a:effectRef idx="1">
            <a:schemeClr val="accent1"/>
          </a:effectRef>
          <a:fontRef idx="minor">
            <a:schemeClr val="lt1"/>
          </a:fontRef>
        </p:style>
        <p:txBody>
          <a:bodyPr/>
          <a:lstStyle/>
          <a:p>
            <a:endParaRPr lang="en-US" sz="7200" dirty="0"/>
          </a:p>
        </p:txBody>
      </p:sp>
      <p:sp>
        <p:nvSpPr>
          <p:cNvPr id="24" name="Text 22">
            <a:extLst>
              <a:ext uri="{FF2B5EF4-FFF2-40B4-BE49-F238E27FC236}">
                <a16:creationId xmlns:a16="http://schemas.microsoft.com/office/drawing/2014/main" id="{86D4990A-B664-4DE9-AF51-3B1BC4358123}"/>
              </a:ext>
            </a:extLst>
          </p:cNvPr>
          <p:cNvSpPr/>
          <p:nvPr/>
        </p:nvSpPr>
        <p:spPr>
          <a:xfrm>
            <a:off x="807528" y="7176893"/>
            <a:ext cx="3842222" cy="716350"/>
          </a:xfrm>
          <a:prstGeom prst="rect">
            <a:avLst/>
          </a:prstGeom>
          <a:noFill/>
          <a:ln/>
        </p:spPr>
        <p:txBody>
          <a:bodyPr wrap="square" lIns="0" tIns="0" rIns="0" bIns="0" rtlCol="0" anchor="ctr"/>
          <a:lstStyle/>
          <a:p>
            <a:pPr algn="ctr"/>
            <a:r>
              <a:rPr lang="en-US" sz="2600" b="1" dirty="0">
                <a:solidFill>
                  <a:srgbClr val="FFFFFF"/>
                </a:solidFill>
                <a:ea typeface="Calibri" pitchFamily="34" charset="-122"/>
                <a:cs typeface="Calibri" pitchFamily="34" charset="-120"/>
              </a:rPr>
              <a:t>SAS </a:t>
            </a:r>
            <a:r>
              <a:rPr lang="en-US" sz="2600" b="1" dirty="0" err="1">
                <a:solidFill>
                  <a:srgbClr val="FFFFFF"/>
                </a:solidFill>
                <a:ea typeface="Calibri" pitchFamily="34" charset="-122"/>
                <a:cs typeface="Calibri" pitchFamily="34" charset="-120"/>
              </a:rPr>
              <a:t>Viya</a:t>
            </a:r>
            <a:r>
              <a:rPr lang="en-US" sz="2600" b="1" dirty="0">
                <a:solidFill>
                  <a:srgbClr val="FFFFFF"/>
                </a:solidFill>
                <a:ea typeface="Calibri" pitchFamily="34" charset="-122"/>
                <a:cs typeface="Calibri" pitchFamily="34" charset="-120"/>
              </a:rPr>
              <a:t> Workbench</a:t>
            </a:r>
            <a:endParaRPr lang="en-US" sz="2600" dirty="0"/>
          </a:p>
        </p:txBody>
      </p:sp>
      <p:sp>
        <p:nvSpPr>
          <p:cNvPr id="29" name="Text 32">
            <a:extLst>
              <a:ext uri="{FF2B5EF4-FFF2-40B4-BE49-F238E27FC236}">
                <a16:creationId xmlns:a16="http://schemas.microsoft.com/office/drawing/2014/main" id="{F173D156-0AED-4E0D-8213-DFBB15E9F643}"/>
              </a:ext>
            </a:extLst>
          </p:cNvPr>
          <p:cNvSpPr/>
          <p:nvPr/>
        </p:nvSpPr>
        <p:spPr>
          <a:xfrm>
            <a:off x="9326880" y="2198211"/>
            <a:ext cx="8321040" cy="478620"/>
          </a:xfrm>
          <a:prstGeom prst="rect">
            <a:avLst/>
          </a:prstGeom>
          <a:noFill/>
          <a:ln/>
        </p:spPr>
        <p:txBody>
          <a:bodyPr wrap="square" lIns="0" tIns="0" rIns="0" bIns="0" rtlCol="0" anchor="ctr"/>
          <a:lstStyle/>
          <a:p>
            <a:r>
              <a:rPr lang="en-US" sz="3200" b="1" kern="0" spc="400" dirty="0">
                <a:solidFill>
                  <a:schemeClr val="accent2"/>
                </a:solidFill>
                <a:ea typeface="Calibri" pitchFamily="34" charset="-122"/>
                <a:cs typeface="Calibri" pitchFamily="34" charset="-120"/>
              </a:rPr>
              <a:t>MODELING APPROACH</a:t>
            </a:r>
            <a:endParaRPr lang="en-US" sz="3200" dirty="0">
              <a:solidFill>
                <a:schemeClr val="accent2"/>
              </a:solidFill>
            </a:endParaRPr>
          </a:p>
        </p:txBody>
      </p:sp>
      <p:sp>
        <p:nvSpPr>
          <p:cNvPr id="31" name="Shape 33">
            <a:extLst>
              <a:ext uri="{FF2B5EF4-FFF2-40B4-BE49-F238E27FC236}">
                <a16:creationId xmlns:a16="http://schemas.microsoft.com/office/drawing/2014/main" id="{C3551E94-2D8D-45AB-8A28-E245483C7287}"/>
              </a:ext>
            </a:extLst>
          </p:cNvPr>
          <p:cNvSpPr/>
          <p:nvPr/>
        </p:nvSpPr>
        <p:spPr>
          <a:xfrm>
            <a:off x="9262534" y="2880148"/>
            <a:ext cx="8321040" cy="151527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800"/>
          </a:p>
        </p:txBody>
      </p:sp>
      <p:sp>
        <p:nvSpPr>
          <p:cNvPr id="32" name="Shape 34">
            <a:extLst>
              <a:ext uri="{FF2B5EF4-FFF2-40B4-BE49-F238E27FC236}">
                <a16:creationId xmlns:a16="http://schemas.microsoft.com/office/drawing/2014/main" id="{7A8DE604-5443-4B19-A450-206EB6F30319}"/>
              </a:ext>
            </a:extLst>
          </p:cNvPr>
          <p:cNvSpPr/>
          <p:nvPr/>
        </p:nvSpPr>
        <p:spPr>
          <a:xfrm>
            <a:off x="9262534" y="2880148"/>
            <a:ext cx="804672" cy="1515278"/>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endParaRPr lang="en-US" sz="2800"/>
          </a:p>
        </p:txBody>
      </p:sp>
      <p:sp>
        <p:nvSpPr>
          <p:cNvPr id="33" name="Text 35">
            <a:extLst>
              <a:ext uri="{FF2B5EF4-FFF2-40B4-BE49-F238E27FC236}">
                <a16:creationId xmlns:a16="http://schemas.microsoft.com/office/drawing/2014/main" id="{B0675E17-C156-4A51-8BE6-881EED88CA77}"/>
              </a:ext>
            </a:extLst>
          </p:cNvPr>
          <p:cNvSpPr/>
          <p:nvPr/>
        </p:nvSpPr>
        <p:spPr>
          <a:xfrm>
            <a:off x="9262534" y="2880148"/>
            <a:ext cx="804672" cy="1515278"/>
          </a:xfrm>
          <a:prstGeom prst="rect">
            <a:avLst/>
          </a:prstGeom>
          <a:ln/>
        </p:spPr>
        <p:style>
          <a:lnRef idx="1">
            <a:schemeClr val="accent3"/>
          </a:lnRef>
          <a:fillRef idx="3">
            <a:schemeClr val="accent3"/>
          </a:fillRef>
          <a:effectRef idx="2">
            <a:schemeClr val="accent3"/>
          </a:effectRef>
          <a:fontRef idx="minor">
            <a:schemeClr val="lt1"/>
          </a:fontRef>
        </p:style>
        <p:txBody>
          <a:bodyPr wrap="square" lIns="0" tIns="0" rIns="0" bIns="0" rtlCol="0" anchor="ctr"/>
          <a:lstStyle/>
          <a:p>
            <a:pPr algn="ctr"/>
            <a:r>
              <a:rPr lang="en-US" sz="2800" b="1" dirty="0">
                <a:solidFill>
                  <a:srgbClr val="FFFFFF"/>
                </a:solidFill>
                <a:ea typeface="Calibri" pitchFamily="34" charset="-122"/>
                <a:cs typeface="Calibri" pitchFamily="34" charset="-120"/>
              </a:rPr>
              <a:t>1</a:t>
            </a:r>
            <a:endParaRPr lang="en-US" sz="2800" dirty="0"/>
          </a:p>
        </p:txBody>
      </p:sp>
      <p:sp>
        <p:nvSpPr>
          <p:cNvPr id="34" name="Text 36">
            <a:extLst>
              <a:ext uri="{FF2B5EF4-FFF2-40B4-BE49-F238E27FC236}">
                <a16:creationId xmlns:a16="http://schemas.microsoft.com/office/drawing/2014/main" id="{8169502E-821F-410C-AB17-9055EF944473}"/>
              </a:ext>
            </a:extLst>
          </p:cNvPr>
          <p:cNvSpPr/>
          <p:nvPr/>
        </p:nvSpPr>
        <p:spPr>
          <a:xfrm>
            <a:off x="10213510" y="2990350"/>
            <a:ext cx="7242048" cy="606111"/>
          </a:xfrm>
          <a:prstGeom prst="rect">
            <a:avLst/>
          </a:prstGeom>
          <a:noFill/>
          <a:ln/>
        </p:spPr>
        <p:txBody>
          <a:bodyPr wrap="square" lIns="0" tIns="0" rIns="0" bIns="0" rtlCol="0" anchor="ctr"/>
          <a:lstStyle/>
          <a:p>
            <a:r>
              <a:rPr lang="en-US" sz="2800" b="1" dirty="0">
                <a:solidFill>
                  <a:srgbClr val="1E293B"/>
                </a:solidFill>
                <a:ea typeface="Calibri" pitchFamily="34" charset="-122"/>
                <a:cs typeface="Calibri" pitchFamily="34" charset="-120"/>
              </a:rPr>
              <a:t>Regression: Predict exact LOS</a:t>
            </a:r>
            <a:endParaRPr lang="en-US" sz="2800" dirty="0"/>
          </a:p>
        </p:txBody>
      </p:sp>
      <p:sp>
        <p:nvSpPr>
          <p:cNvPr id="35" name="Text 37">
            <a:extLst>
              <a:ext uri="{FF2B5EF4-FFF2-40B4-BE49-F238E27FC236}">
                <a16:creationId xmlns:a16="http://schemas.microsoft.com/office/drawing/2014/main" id="{101ED2C9-67C1-4DD2-A76F-AB8FE364BB57}"/>
              </a:ext>
            </a:extLst>
          </p:cNvPr>
          <p:cNvSpPr/>
          <p:nvPr/>
        </p:nvSpPr>
        <p:spPr>
          <a:xfrm>
            <a:off x="10213510" y="3651561"/>
            <a:ext cx="7242048" cy="606111"/>
          </a:xfrm>
          <a:prstGeom prst="rect">
            <a:avLst/>
          </a:prstGeom>
          <a:noFill/>
          <a:ln/>
        </p:spPr>
        <p:txBody>
          <a:bodyPr wrap="square" lIns="0" tIns="0" rIns="0" bIns="0" rtlCol="0" anchor="ctr"/>
          <a:lstStyle/>
          <a:p>
            <a:r>
              <a:rPr lang="en-US" sz="2800" dirty="0">
                <a:solidFill>
                  <a:srgbClr val="64748B"/>
                </a:solidFill>
                <a:ea typeface="Calibri" pitchFamily="34" charset="-122"/>
                <a:cs typeface="Calibri" pitchFamily="34" charset="-120"/>
              </a:rPr>
              <a:t>How many days will the patient stay?</a:t>
            </a:r>
            <a:endParaRPr lang="en-US" sz="2800" dirty="0"/>
          </a:p>
        </p:txBody>
      </p:sp>
      <p:sp>
        <p:nvSpPr>
          <p:cNvPr id="36" name="Shape 38">
            <a:extLst>
              <a:ext uri="{FF2B5EF4-FFF2-40B4-BE49-F238E27FC236}">
                <a16:creationId xmlns:a16="http://schemas.microsoft.com/office/drawing/2014/main" id="{952E9401-B974-4BE8-A476-3C3C75B49A54}"/>
              </a:ext>
            </a:extLst>
          </p:cNvPr>
          <p:cNvSpPr/>
          <p:nvPr/>
        </p:nvSpPr>
        <p:spPr>
          <a:xfrm>
            <a:off x="9262534" y="4574503"/>
            <a:ext cx="8321040" cy="151527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800"/>
          </a:p>
        </p:txBody>
      </p:sp>
      <p:sp>
        <p:nvSpPr>
          <p:cNvPr id="37" name="Shape 39">
            <a:extLst>
              <a:ext uri="{FF2B5EF4-FFF2-40B4-BE49-F238E27FC236}">
                <a16:creationId xmlns:a16="http://schemas.microsoft.com/office/drawing/2014/main" id="{EF03FEAC-093B-4DAD-8F34-6B13E899C37C}"/>
              </a:ext>
            </a:extLst>
          </p:cNvPr>
          <p:cNvSpPr/>
          <p:nvPr/>
        </p:nvSpPr>
        <p:spPr>
          <a:xfrm>
            <a:off x="9262534" y="4574503"/>
            <a:ext cx="804672" cy="1515278"/>
          </a:xfrm>
          <a:prstGeom prst="rect">
            <a:avLst/>
          </a:prstGeom>
          <a:ln/>
        </p:spPr>
        <p:style>
          <a:lnRef idx="1">
            <a:schemeClr val="accent4"/>
          </a:lnRef>
          <a:fillRef idx="3">
            <a:schemeClr val="accent4"/>
          </a:fillRef>
          <a:effectRef idx="2">
            <a:schemeClr val="accent4"/>
          </a:effectRef>
          <a:fontRef idx="minor">
            <a:schemeClr val="lt1"/>
          </a:fontRef>
        </p:style>
        <p:txBody>
          <a:bodyPr/>
          <a:lstStyle/>
          <a:p>
            <a:endParaRPr lang="en-US" sz="2800"/>
          </a:p>
        </p:txBody>
      </p:sp>
      <p:sp>
        <p:nvSpPr>
          <p:cNvPr id="38" name="Text 40">
            <a:extLst>
              <a:ext uri="{FF2B5EF4-FFF2-40B4-BE49-F238E27FC236}">
                <a16:creationId xmlns:a16="http://schemas.microsoft.com/office/drawing/2014/main" id="{4CDCCD8D-51B1-4399-851A-6089A5F3035E}"/>
              </a:ext>
            </a:extLst>
          </p:cNvPr>
          <p:cNvSpPr/>
          <p:nvPr/>
        </p:nvSpPr>
        <p:spPr>
          <a:xfrm>
            <a:off x="9262534" y="4574503"/>
            <a:ext cx="804672" cy="1515278"/>
          </a:xfrm>
          <a:prstGeom prst="rect">
            <a:avLst/>
          </a:prstGeom>
          <a:noFill/>
          <a:ln/>
        </p:spPr>
        <p:txBody>
          <a:bodyPr wrap="square" lIns="0" tIns="0" rIns="0" bIns="0" rtlCol="0" anchor="ctr"/>
          <a:lstStyle/>
          <a:p>
            <a:pPr algn="ctr"/>
            <a:r>
              <a:rPr lang="en-US" sz="2800" b="1" dirty="0">
                <a:solidFill>
                  <a:srgbClr val="FFFFFF"/>
                </a:solidFill>
                <a:ea typeface="Calibri" pitchFamily="34" charset="-122"/>
                <a:cs typeface="Calibri" pitchFamily="34" charset="-120"/>
              </a:rPr>
              <a:t>2</a:t>
            </a:r>
            <a:endParaRPr lang="en-US" sz="2800" dirty="0"/>
          </a:p>
        </p:txBody>
      </p:sp>
      <p:sp>
        <p:nvSpPr>
          <p:cNvPr id="39" name="Text 41">
            <a:extLst>
              <a:ext uri="{FF2B5EF4-FFF2-40B4-BE49-F238E27FC236}">
                <a16:creationId xmlns:a16="http://schemas.microsoft.com/office/drawing/2014/main" id="{421CEE4A-1BA8-4468-A41C-7A9F1A567D36}"/>
              </a:ext>
            </a:extLst>
          </p:cNvPr>
          <p:cNvSpPr/>
          <p:nvPr/>
        </p:nvSpPr>
        <p:spPr>
          <a:xfrm>
            <a:off x="10213510" y="4684706"/>
            <a:ext cx="7242048" cy="606111"/>
          </a:xfrm>
          <a:prstGeom prst="rect">
            <a:avLst/>
          </a:prstGeom>
          <a:noFill/>
          <a:ln/>
        </p:spPr>
        <p:txBody>
          <a:bodyPr wrap="square" lIns="0" tIns="0" rIns="0" bIns="0" rtlCol="0" anchor="ctr"/>
          <a:lstStyle/>
          <a:p>
            <a:r>
              <a:rPr lang="en-US" sz="2800" b="1" dirty="0">
                <a:solidFill>
                  <a:srgbClr val="1E293B"/>
                </a:solidFill>
                <a:ea typeface="Calibri" pitchFamily="34" charset="-122"/>
                <a:cs typeface="Calibri" pitchFamily="34" charset="-120"/>
              </a:rPr>
              <a:t>Classification: Long vs Short Stay</a:t>
            </a:r>
            <a:endParaRPr lang="en-US" sz="2800" dirty="0"/>
          </a:p>
        </p:txBody>
      </p:sp>
      <p:sp>
        <p:nvSpPr>
          <p:cNvPr id="40" name="Text 42">
            <a:extLst>
              <a:ext uri="{FF2B5EF4-FFF2-40B4-BE49-F238E27FC236}">
                <a16:creationId xmlns:a16="http://schemas.microsoft.com/office/drawing/2014/main" id="{472F0768-AACF-4084-A062-4E55232A7D03}"/>
              </a:ext>
            </a:extLst>
          </p:cNvPr>
          <p:cNvSpPr/>
          <p:nvPr/>
        </p:nvSpPr>
        <p:spPr>
          <a:xfrm>
            <a:off x="10213510" y="5345917"/>
            <a:ext cx="7242048" cy="606111"/>
          </a:xfrm>
          <a:prstGeom prst="rect">
            <a:avLst/>
          </a:prstGeom>
          <a:noFill/>
          <a:ln/>
        </p:spPr>
        <p:txBody>
          <a:bodyPr wrap="square" lIns="0" tIns="0" rIns="0" bIns="0" rtlCol="0" anchor="ctr"/>
          <a:lstStyle/>
          <a:p>
            <a:r>
              <a:rPr lang="en-US" sz="2800" dirty="0">
                <a:solidFill>
                  <a:srgbClr val="64748B"/>
                </a:solidFill>
                <a:ea typeface="Calibri" pitchFamily="34" charset="-122"/>
                <a:cs typeface="Calibri" pitchFamily="34" charset="-120"/>
              </a:rPr>
              <a:t>Short vs long stay</a:t>
            </a:r>
            <a:endParaRPr lang="en-US" sz="2800" dirty="0"/>
          </a:p>
        </p:txBody>
      </p:sp>
      <p:sp>
        <p:nvSpPr>
          <p:cNvPr id="41" name="Shape 43">
            <a:extLst>
              <a:ext uri="{FF2B5EF4-FFF2-40B4-BE49-F238E27FC236}">
                <a16:creationId xmlns:a16="http://schemas.microsoft.com/office/drawing/2014/main" id="{0C2177D4-9823-4FDC-BA50-A8CCC6CA65AE}"/>
              </a:ext>
            </a:extLst>
          </p:cNvPr>
          <p:cNvSpPr/>
          <p:nvPr/>
        </p:nvSpPr>
        <p:spPr>
          <a:xfrm>
            <a:off x="9262534" y="6268859"/>
            <a:ext cx="8321040" cy="151527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800"/>
          </a:p>
        </p:txBody>
      </p:sp>
      <p:sp>
        <p:nvSpPr>
          <p:cNvPr id="42" name="Shape 44">
            <a:extLst>
              <a:ext uri="{FF2B5EF4-FFF2-40B4-BE49-F238E27FC236}">
                <a16:creationId xmlns:a16="http://schemas.microsoft.com/office/drawing/2014/main" id="{9637E8AF-6CC9-4DB1-A16F-F65422092EE4}"/>
              </a:ext>
            </a:extLst>
          </p:cNvPr>
          <p:cNvSpPr/>
          <p:nvPr/>
        </p:nvSpPr>
        <p:spPr>
          <a:xfrm>
            <a:off x="9262534" y="6268859"/>
            <a:ext cx="804672" cy="1515278"/>
          </a:xfrm>
          <a:prstGeom prst="rect">
            <a:avLst/>
          </a:prstGeom>
          <a:ln/>
        </p:spPr>
        <p:style>
          <a:lnRef idx="1">
            <a:schemeClr val="accent5"/>
          </a:lnRef>
          <a:fillRef idx="3">
            <a:schemeClr val="accent5"/>
          </a:fillRef>
          <a:effectRef idx="2">
            <a:schemeClr val="accent5"/>
          </a:effectRef>
          <a:fontRef idx="minor">
            <a:schemeClr val="lt1"/>
          </a:fontRef>
        </p:style>
        <p:txBody>
          <a:bodyPr/>
          <a:lstStyle/>
          <a:p>
            <a:endParaRPr lang="en-US" sz="2800"/>
          </a:p>
        </p:txBody>
      </p:sp>
      <p:sp>
        <p:nvSpPr>
          <p:cNvPr id="43" name="Text 45">
            <a:extLst>
              <a:ext uri="{FF2B5EF4-FFF2-40B4-BE49-F238E27FC236}">
                <a16:creationId xmlns:a16="http://schemas.microsoft.com/office/drawing/2014/main" id="{2512C89F-0E1B-43D2-B025-BC68332D3158}"/>
              </a:ext>
            </a:extLst>
          </p:cNvPr>
          <p:cNvSpPr/>
          <p:nvPr/>
        </p:nvSpPr>
        <p:spPr>
          <a:xfrm>
            <a:off x="9262534" y="6268859"/>
            <a:ext cx="804672" cy="1515278"/>
          </a:xfrm>
          <a:prstGeom prst="rect">
            <a:avLst/>
          </a:prstGeom>
          <a:noFill/>
          <a:ln/>
        </p:spPr>
        <p:txBody>
          <a:bodyPr wrap="square" lIns="0" tIns="0" rIns="0" bIns="0" rtlCol="0" anchor="ctr"/>
          <a:lstStyle/>
          <a:p>
            <a:pPr algn="ctr"/>
            <a:r>
              <a:rPr lang="en-US" sz="2800" b="1" dirty="0">
                <a:solidFill>
                  <a:srgbClr val="FFFFFF"/>
                </a:solidFill>
                <a:ea typeface="Calibri" pitchFamily="34" charset="-122"/>
                <a:cs typeface="Calibri" pitchFamily="34" charset="-120"/>
              </a:rPr>
              <a:t>3</a:t>
            </a:r>
            <a:endParaRPr lang="en-US" sz="2800" dirty="0"/>
          </a:p>
        </p:txBody>
      </p:sp>
      <p:sp>
        <p:nvSpPr>
          <p:cNvPr id="44" name="Text 46">
            <a:extLst>
              <a:ext uri="{FF2B5EF4-FFF2-40B4-BE49-F238E27FC236}">
                <a16:creationId xmlns:a16="http://schemas.microsoft.com/office/drawing/2014/main" id="{39A3298B-21CE-4973-AC76-750C522D2D0C}"/>
              </a:ext>
            </a:extLst>
          </p:cNvPr>
          <p:cNvSpPr/>
          <p:nvPr/>
        </p:nvSpPr>
        <p:spPr>
          <a:xfrm>
            <a:off x="10213510" y="6379061"/>
            <a:ext cx="7242048" cy="606111"/>
          </a:xfrm>
          <a:prstGeom prst="rect">
            <a:avLst/>
          </a:prstGeom>
          <a:noFill/>
          <a:ln/>
        </p:spPr>
        <p:txBody>
          <a:bodyPr wrap="square" lIns="0" tIns="0" rIns="0" bIns="0" rtlCol="0" anchor="ctr"/>
          <a:lstStyle/>
          <a:p>
            <a:r>
              <a:rPr lang="en-US" sz="2800" b="1" dirty="0">
                <a:solidFill>
                  <a:srgbClr val="1E293B"/>
                </a:solidFill>
                <a:ea typeface="Calibri" pitchFamily="34" charset="-122"/>
                <a:cs typeface="Calibri" pitchFamily="34" charset="-120"/>
              </a:rPr>
              <a:t>Uncertainty Estimation</a:t>
            </a:r>
            <a:endParaRPr lang="en-US" sz="2800" dirty="0"/>
          </a:p>
        </p:txBody>
      </p:sp>
      <p:sp>
        <p:nvSpPr>
          <p:cNvPr id="45" name="Text 47">
            <a:extLst>
              <a:ext uri="{FF2B5EF4-FFF2-40B4-BE49-F238E27FC236}">
                <a16:creationId xmlns:a16="http://schemas.microsoft.com/office/drawing/2014/main" id="{52DBE8FA-B992-49CF-B498-15CD850691A8}"/>
              </a:ext>
            </a:extLst>
          </p:cNvPr>
          <p:cNvSpPr/>
          <p:nvPr/>
        </p:nvSpPr>
        <p:spPr>
          <a:xfrm>
            <a:off x="10213510" y="7040272"/>
            <a:ext cx="7242048" cy="606111"/>
          </a:xfrm>
          <a:prstGeom prst="rect">
            <a:avLst/>
          </a:prstGeom>
          <a:noFill/>
          <a:ln/>
        </p:spPr>
        <p:txBody>
          <a:bodyPr wrap="square" lIns="0" tIns="0" rIns="0" bIns="0" rtlCol="0" anchor="ctr"/>
          <a:lstStyle/>
          <a:p>
            <a:r>
              <a:rPr lang="en-US" sz="2800" dirty="0">
                <a:solidFill>
                  <a:srgbClr val="64748B"/>
                </a:solidFill>
                <a:ea typeface="Calibri" pitchFamily="34" charset="-122"/>
                <a:cs typeface="Calibri" pitchFamily="34" charset="-120"/>
              </a:rPr>
              <a:t>Give a range, not just a number</a:t>
            </a:r>
            <a:endParaRPr lang="en-US" sz="2800" dirty="0"/>
          </a:p>
        </p:txBody>
      </p:sp>
      <p:sp>
        <p:nvSpPr>
          <p:cNvPr id="46" name="Shape 48">
            <a:extLst>
              <a:ext uri="{FF2B5EF4-FFF2-40B4-BE49-F238E27FC236}">
                <a16:creationId xmlns:a16="http://schemas.microsoft.com/office/drawing/2014/main" id="{BDE16DF6-B4B8-48F1-895A-09B125B58F54}"/>
              </a:ext>
            </a:extLst>
          </p:cNvPr>
          <p:cNvSpPr/>
          <p:nvPr/>
        </p:nvSpPr>
        <p:spPr>
          <a:xfrm>
            <a:off x="9262534" y="7963214"/>
            <a:ext cx="8321040" cy="1515278"/>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800"/>
          </a:p>
        </p:txBody>
      </p:sp>
      <p:sp>
        <p:nvSpPr>
          <p:cNvPr id="47" name="Shape 49">
            <a:extLst>
              <a:ext uri="{FF2B5EF4-FFF2-40B4-BE49-F238E27FC236}">
                <a16:creationId xmlns:a16="http://schemas.microsoft.com/office/drawing/2014/main" id="{1E008CC3-3D11-4B66-8E85-3E7BF7EB3B01}"/>
              </a:ext>
            </a:extLst>
          </p:cNvPr>
          <p:cNvSpPr/>
          <p:nvPr/>
        </p:nvSpPr>
        <p:spPr>
          <a:xfrm>
            <a:off x="9262534" y="7963214"/>
            <a:ext cx="804672" cy="1515278"/>
          </a:xfrm>
          <a:prstGeom prst="rect">
            <a:avLst/>
          </a:prstGeom>
          <a:ln/>
        </p:spPr>
        <p:style>
          <a:lnRef idx="1">
            <a:schemeClr val="accent3"/>
          </a:lnRef>
          <a:fillRef idx="3">
            <a:schemeClr val="accent3"/>
          </a:fillRef>
          <a:effectRef idx="2">
            <a:schemeClr val="accent3"/>
          </a:effectRef>
          <a:fontRef idx="minor">
            <a:schemeClr val="lt1"/>
          </a:fontRef>
        </p:style>
        <p:txBody>
          <a:bodyPr/>
          <a:lstStyle/>
          <a:p>
            <a:endParaRPr lang="en-US" sz="2800"/>
          </a:p>
        </p:txBody>
      </p:sp>
      <p:sp>
        <p:nvSpPr>
          <p:cNvPr id="48" name="Text 50">
            <a:extLst>
              <a:ext uri="{FF2B5EF4-FFF2-40B4-BE49-F238E27FC236}">
                <a16:creationId xmlns:a16="http://schemas.microsoft.com/office/drawing/2014/main" id="{C7684C78-87DC-41C1-AD76-EFB54E01F391}"/>
              </a:ext>
            </a:extLst>
          </p:cNvPr>
          <p:cNvSpPr/>
          <p:nvPr/>
        </p:nvSpPr>
        <p:spPr>
          <a:xfrm>
            <a:off x="9262534" y="7963214"/>
            <a:ext cx="804672" cy="1515278"/>
          </a:xfrm>
          <a:prstGeom prst="rect">
            <a:avLst/>
          </a:prstGeom>
          <a:ln/>
        </p:spPr>
        <p:style>
          <a:lnRef idx="1">
            <a:schemeClr val="accent6"/>
          </a:lnRef>
          <a:fillRef idx="3">
            <a:schemeClr val="accent6"/>
          </a:fillRef>
          <a:effectRef idx="2">
            <a:schemeClr val="accent6"/>
          </a:effectRef>
          <a:fontRef idx="minor">
            <a:schemeClr val="lt1"/>
          </a:fontRef>
        </p:style>
        <p:txBody>
          <a:bodyPr wrap="square" lIns="0" tIns="0" rIns="0" bIns="0" rtlCol="0" anchor="ctr"/>
          <a:lstStyle/>
          <a:p>
            <a:pPr algn="ctr"/>
            <a:r>
              <a:rPr lang="en-US" sz="2800" b="1" dirty="0">
                <a:solidFill>
                  <a:srgbClr val="FFFFFF"/>
                </a:solidFill>
                <a:ea typeface="Calibri" pitchFamily="34" charset="-122"/>
                <a:cs typeface="Calibri" pitchFamily="34" charset="-120"/>
              </a:rPr>
              <a:t>4</a:t>
            </a:r>
            <a:endParaRPr lang="en-US" sz="2800" dirty="0"/>
          </a:p>
        </p:txBody>
      </p:sp>
      <p:sp>
        <p:nvSpPr>
          <p:cNvPr id="49" name="Text 51">
            <a:extLst>
              <a:ext uri="{FF2B5EF4-FFF2-40B4-BE49-F238E27FC236}">
                <a16:creationId xmlns:a16="http://schemas.microsoft.com/office/drawing/2014/main" id="{001ECC92-A0C1-4327-B8E9-486211B2562A}"/>
              </a:ext>
            </a:extLst>
          </p:cNvPr>
          <p:cNvSpPr/>
          <p:nvPr/>
        </p:nvSpPr>
        <p:spPr>
          <a:xfrm>
            <a:off x="10213510" y="8073417"/>
            <a:ext cx="7242048" cy="606111"/>
          </a:xfrm>
          <a:prstGeom prst="rect">
            <a:avLst/>
          </a:prstGeom>
          <a:noFill/>
          <a:ln/>
        </p:spPr>
        <p:txBody>
          <a:bodyPr wrap="square" lIns="0" tIns="0" rIns="0" bIns="0" rtlCol="0" anchor="ctr"/>
          <a:lstStyle/>
          <a:p>
            <a:r>
              <a:rPr lang="en-US" sz="2800" b="1" dirty="0">
                <a:solidFill>
                  <a:srgbClr val="1E293B"/>
                </a:solidFill>
                <a:ea typeface="Calibri" pitchFamily="34" charset="-122"/>
                <a:cs typeface="Calibri" pitchFamily="34" charset="-120"/>
              </a:rPr>
              <a:t>Decision (Simulation)</a:t>
            </a:r>
            <a:endParaRPr lang="en-US" sz="2800" dirty="0"/>
          </a:p>
        </p:txBody>
      </p:sp>
      <p:sp>
        <p:nvSpPr>
          <p:cNvPr id="50" name="Text 52">
            <a:extLst>
              <a:ext uri="{FF2B5EF4-FFF2-40B4-BE49-F238E27FC236}">
                <a16:creationId xmlns:a16="http://schemas.microsoft.com/office/drawing/2014/main" id="{8C0DC89C-B5F4-4510-B8AC-EE35F95B01AA}"/>
              </a:ext>
            </a:extLst>
          </p:cNvPr>
          <p:cNvSpPr/>
          <p:nvPr/>
        </p:nvSpPr>
        <p:spPr>
          <a:xfrm>
            <a:off x="10213510" y="8734627"/>
            <a:ext cx="7242048" cy="606111"/>
          </a:xfrm>
          <a:prstGeom prst="rect">
            <a:avLst/>
          </a:prstGeom>
          <a:noFill/>
          <a:ln/>
        </p:spPr>
        <p:txBody>
          <a:bodyPr wrap="square" lIns="0" tIns="0" rIns="0" bIns="0" rtlCol="0" anchor="ctr"/>
          <a:lstStyle/>
          <a:p>
            <a:r>
              <a:rPr lang="en-US" sz="2800" dirty="0">
                <a:solidFill>
                  <a:srgbClr val="64748B"/>
                </a:solidFill>
                <a:ea typeface="Calibri" pitchFamily="34" charset="-122"/>
                <a:cs typeface="Calibri" pitchFamily="34" charset="-120"/>
              </a:rPr>
              <a:t>Test real-world scenarios</a:t>
            </a:r>
            <a:endParaRPr lang="en-US" sz="2800" dirty="0"/>
          </a:p>
        </p:txBody>
      </p:sp>
      <p:sp>
        <p:nvSpPr>
          <p:cNvPr id="51" name="Text 55">
            <a:extLst>
              <a:ext uri="{FF2B5EF4-FFF2-40B4-BE49-F238E27FC236}">
                <a16:creationId xmlns:a16="http://schemas.microsoft.com/office/drawing/2014/main" id="{F9EFB9FB-50E4-49F9-B8A0-0CD238438111}"/>
              </a:ext>
            </a:extLst>
          </p:cNvPr>
          <p:cNvSpPr/>
          <p:nvPr/>
        </p:nvSpPr>
        <p:spPr>
          <a:xfrm>
            <a:off x="9262534" y="8170424"/>
            <a:ext cx="804672" cy="1183100"/>
          </a:xfrm>
          <a:prstGeom prst="rect">
            <a:avLst/>
          </a:prstGeom>
          <a:noFill/>
          <a:ln/>
        </p:spPr>
        <p:txBody>
          <a:bodyPr wrap="square" lIns="0" tIns="0" rIns="0" bIns="0" rtlCol="0" anchor="ctr"/>
          <a:lstStyle/>
          <a:p>
            <a:pPr algn="ctr"/>
            <a:endParaRPr lang="en-US" sz="2800" dirty="0"/>
          </a:p>
        </p:txBody>
      </p:sp>
      <p:sp>
        <p:nvSpPr>
          <p:cNvPr id="53" name="Text 20">
            <a:extLst>
              <a:ext uri="{FF2B5EF4-FFF2-40B4-BE49-F238E27FC236}">
                <a16:creationId xmlns:a16="http://schemas.microsoft.com/office/drawing/2014/main" id="{B8BE1F2F-4F8E-44E0-B8C6-FF10AF305E1C}"/>
              </a:ext>
            </a:extLst>
          </p:cNvPr>
          <p:cNvSpPr/>
          <p:nvPr/>
        </p:nvSpPr>
        <p:spPr>
          <a:xfrm>
            <a:off x="886630" y="6490053"/>
            <a:ext cx="8229600" cy="402336"/>
          </a:xfrm>
          <a:prstGeom prst="rect">
            <a:avLst/>
          </a:prstGeom>
          <a:noFill/>
          <a:ln/>
        </p:spPr>
        <p:txBody>
          <a:bodyPr wrap="square" lIns="0" tIns="0" rIns="0" bIns="0" rtlCol="0" anchor="ctr"/>
          <a:lstStyle/>
          <a:p>
            <a:r>
              <a:rPr lang="en-US" sz="3200" b="1" kern="0" spc="400" dirty="0">
                <a:solidFill>
                  <a:srgbClr val="002060"/>
                </a:solidFill>
                <a:ea typeface="Calibri" pitchFamily="34" charset="-122"/>
                <a:cs typeface="Calibri" pitchFamily="34" charset="-120"/>
              </a:rPr>
              <a:t>TOOLS</a:t>
            </a:r>
            <a:endParaRPr lang="en-US" sz="3200" dirty="0">
              <a:solidFill>
                <a:srgbClr val="002060"/>
              </a:solidFill>
            </a:endParaRPr>
          </a:p>
        </p:txBody>
      </p:sp>
      <p:sp>
        <p:nvSpPr>
          <p:cNvPr id="3" name="TextBox 2">
            <a:extLst>
              <a:ext uri="{FF2B5EF4-FFF2-40B4-BE49-F238E27FC236}">
                <a16:creationId xmlns:a16="http://schemas.microsoft.com/office/drawing/2014/main" id="{4370629D-A86B-4F6C-8772-70F901F7CFF1}"/>
              </a:ext>
            </a:extLst>
          </p:cNvPr>
          <p:cNvSpPr txBox="1"/>
          <p:nvPr/>
        </p:nvSpPr>
        <p:spPr>
          <a:xfrm>
            <a:off x="2308057" y="5326216"/>
            <a:ext cx="4990120" cy="574837"/>
          </a:xfrm>
          <a:prstGeom prst="rect">
            <a:avLst/>
          </a:prstGeom>
          <a:noFill/>
        </p:spPr>
        <p:txBody>
          <a:bodyPr wrap="square" lIns="0" tIns="0" rIns="0" bIns="0" rtlCol="0">
            <a:spAutoFit/>
          </a:bodyPr>
          <a:lstStyle/>
          <a:p>
            <a:pPr>
              <a:lnSpc>
                <a:spcPct val="150000"/>
              </a:lnSpc>
            </a:pPr>
            <a:r>
              <a:rPr lang="en-US" sz="2800" dirty="0"/>
              <a:t>Demographic | Clinical | Usage</a:t>
            </a:r>
            <a:endParaRPr lang="en-US" sz="2800" dirty="0">
              <a:solidFill>
                <a:schemeClr val="tx1"/>
              </a:solidFill>
            </a:endParaRPr>
          </a:p>
        </p:txBody>
      </p:sp>
      <p:sp>
        <p:nvSpPr>
          <p:cNvPr id="52" name="Text 20">
            <a:extLst>
              <a:ext uri="{FF2B5EF4-FFF2-40B4-BE49-F238E27FC236}">
                <a16:creationId xmlns:a16="http://schemas.microsoft.com/office/drawing/2014/main" id="{96F6F5F2-0F6F-49D7-979F-52649420CCEB}"/>
              </a:ext>
            </a:extLst>
          </p:cNvPr>
          <p:cNvSpPr/>
          <p:nvPr/>
        </p:nvSpPr>
        <p:spPr>
          <a:xfrm>
            <a:off x="940817" y="4696120"/>
            <a:ext cx="7724603" cy="430887"/>
          </a:xfrm>
          <a:prstGeom prst="rect">
            <a:avLst/>
          </a:prstGeom>
          <a:noFill/>
          <a:ln/>
        </p:spPr>
        <p:txBody>
          <a:bodyPr wrap="square" lIns="0" tIns="0" rIns="0" bIns="0" rtlCol="0" anchor="ctr"/>
          <a:lstStyle/>
          <a:p>
            <a:r>
              <a:rPr lang="en-US" sz="3200" b="1" kern="0" spc="400" dirty="0">
                <a:solidFill>
                  <a:schemeClr val="accent1"/>
                </a:solidFill>
                <a:ea typeface="Calibri" pitchFamily="34" charset="-122"/>
                <a:cs typeface="Calibri" pitchFamily="34" charset="-120"/>
              </a:rPr>
              <a:t>FEATURES</a:t>
            </a:r>
            <a:endParaRPr lang="en-US" sz="3200" dirty="0">
              <a:solidFill>
                <a:schemeClr val="accent1"/>
              </a:solidFill>
            </a:endParaRPr>
          </a:p>
        </p:txBody>
      </p:sp>
      <p:sp>
        <p:nvSpPr>
          <p:cNvPr id="54" name="Shape 4">
            <a:extLst>
              <a:ext uri="{FF2B5EF4-FFF2-40B4-BE49-F238E27FC236}">
                <a16:creationId xmlns:a16="http://schemas.microsoft.com/office/drawing/2014/main" id="{8F00EEA1-CA79-4E69-9D17-599C54660F28}"/>
              </a:ext>
            </a:extLst>
          </p:cNvPr>
          <p:cNvSpPr/>
          <p:nvPr/>
        </p:nvSpPr>
        <p:spPr>
          <a:xfrm>
            <a:off x="923205" y="5224625"/>
            <a:ext cx="7724603" cy="837848"/>
          </a:xfrm>
          <a:prstGeom prst="rect">
            <a:avLst/>
          </a:prstGeom>
          <a:noFill/>
          <a:ln/>
        </p:spPr>
        <p:style>
          <a:lnRef idx="1">
            <a:schemeClr val="accent1"/>
          </a:lnRef>
          <a:fillRef idx="3">
            <a:schemeClr val="accent1"/>
          </a:fillRef>
          <a:effectRef idx="2">
            <a:schemeClr val="accent1"/>
          </a:effectRef>
          <a:fontRef idx="minor">
            <a:schemeClr val="lt1"/>
          </a:fontRef>
        </p:style>
        <p:txBody>
          <a:bodyPr/>
          <a:lstStyle/>
          <a:p>
            <a:endParaRPr lang="en-US" sz="7200"/>
          </a:p>
        </p:txBody>
      </p:sp>
    </p:spTree>
    <p:extLst>
      <p:ext uri="{BB962C8B-B14F-4D97-AF65-F5344CB8AC3E}">
        <p14:creationId xmlns:p14="http://schemas.microsoft.com/office/powerpoint/2010/main" val="100996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AF0B8-F523-F42C-9677-DC26236AFEAA}"/>
              </a:ext>
            </a:extLst>
          </p:cNvPr>
          <p:cNvSpPr>
            <a:spLocks noGrp="1"/>
          </p:cNvSpPr>
          <p:nvPr>
            <p:ph type="title"/>
          </p:nvPr>
        </p:nvSpPr>
        <p:spPr>
          <a:xfrm>
            <a:off x="919479" y="693028"/>
            <a:ext cx="15773400" cy="775596"/>
          </a:xfrm>
        </p:spPr>
        <p:txBody>
          <a:bodyPr/>
          <a:lstStyle/>
          <a:p>
            <a:r>
              <a:rPr lang="en-US" dirty="0"/>
              <a:t>Key Results</a:t>
            </a:r>
          </a:p>
        </p:txBody>
      </p:sp>
      <p:sp>
        <p:nvSpPr>
          <p:cNvPr id="4" name="Text Placeholder 3">
            <a:extLst>
              <a:ext uri="{FF2B5EF4-FFF2-40B4-BE49-F238E27FC236}">
                <a16:creationId xmlns:a16="http://schemas.microsoft.com/office/drawing/2014/main" id="{9ACB5EF7-5862-9A66-35C7-FB094AF95FE6}"/>
              </a:ext>
            </a:extLst>
          </p:cNvPr>
          <p:cNvSpPr>
            <a:spLocks noGrp="1"/>
          </p:cNvSpPr>
          <p:nvPr>
            <p:ph type="body" sz="quarter" idx="10"/>
          </p:nvPr>
        </p:nvSpPr>
        <p:spPr>
          <a:xfrm>
            <a:off x="919479" y="1594083"/>
            <a:ext cx="15773400" cy="549382"/>
          </a:xfrm>
        </p:spPr>
        <p:txBody>
          <a:bodyPr/>
          <a:lstStyle/>
          <a:p>
            <a:r>
              <a:rPr lang="en-US" b="1" dirty="0">
                <a:solidFill>
                  <a:schemeClr val="accent1"/>
                </a:solidFill>
                <a:ea typeface="Calibri" pitchFamily="34" charset="-122"/>
                <a:cs typeface="Calibri" pitchFamily="34" charset="-120"/>
              </a:rPr>
              <a:t>LOS Regression &amp; Long-Stay Classification</a:t>
            </a:r>
            <a:endParaRPr lang="en-US" dirty="0">
              <a:solidFill>
                <a:schemeClr val="accent1"/>
              </a:solidFill>
            </a:endParaRPr>
          </a:p>
          <a:p>
            <a:endParaRPr lang="en-US" dirty="0">
              <a:solidFill>
                <a:srgbClr val="002060"/>
              </a:solidFill>
            </a:endParaRPr>
          </a:p>
        </p:txBody>
      </p:sp>
      <p:sp>
        <p:nvSpPr>
          <p:cNvPr id="5" name="Text 3">
            <a:extLst>
              <a:ext uri="{FF2B5EF4-FFF2-40B4-BE49-F238E27FC236}">
                <a16:creationId xmlns:a16="http://schemas.microsoft.com/office/drawing/2014/main" id="{31C1CB2B-08AC-443C-8A1B-5F244E012E91}"/>
              </a:ext>
            </a:extLst>
          </p:cNvPr>
          <p:cNvSpPr/>
          <p:nvPr/>
        </p:nvSpPr>
        <p:spPr>
          <a:xfrm>
            <a:off x="768096" y="841248"/>
            <a:ext cx="15544800" cy="1060704"/>
          </a:xfrm>
          <a:prstGeom prst="rect">
            <a:avLst/>
          </a:prstGeom>
          <a:noFill/>
          <a:ln/>
        </p:spPr>
        <p:txBody>
          <a:bodyPr wrap="square" lIns="0" tIns="0" rIns="0" bIns="0" rtlCol="0" anchor="ctr"/>
          <a:lstStyle/>
          <a:p>
            <a:endParaRPr lang="en-US" sz="4000" dirty="0"/>
          </a:p>
        </p:txBody>
      </p:sp>
      <p:sp>
        <p:nvSpPr>
          <p:cNvPr id="10" name="Text 8">
            <a:extLst>
              <a:ext uri="{FF2B5EF4-FFF2-40B4-BE49-F238E27FC236}">
                <a16:creationId xmlns:a16="http://schemas.microsoft.com/office/drawing/2014/main" id="{8BD0BD1C-2503-49A7-9536-5A912B72A608}"/>
              </a:ext>
            </a:extLst>
          </p:cNvPr>
          <p:cNvSpPr/>
          <p:nvPr/>
        </p:nvSpPr>
        <p:spPr>
          <a:xfrm>
            <a:off x="919479" y="2779204"/>
            <a:ext cx="8412480" cy="475488"/>
          </a:xfrm>
          <a:prstGeom prst="rect">
            <a:avLst/>
          </a:prstGeom>
          <a:noFill/>
          <a:ln/>
        </p:spPr>
        <p:txBody>
          <a:bodyPr wrap="square" lIns="0" tIns="0" rIns="0" bIns="0" rtlCol="0" anchor="ctr"/>
          <a:lstStyle/>
          <a:p>
            <a:r>
              <a:rPr lang="en-US" sz="2800" b="1" kern="0" spc="400" dirty="0">
                <a:solidFill>
                  <a:srgbClr val="002060"/>
                </a:solidFill>
                <a:ea typeface="Calibri" pitchFamily="34" charset="-122"/>
                <a:cs typeface="Calibri" pitchFamily="34" charset="-120"/>
              </a:rPr>
              <a:t>LOS REGRESSION COMPARISON -MAE</a:t>
            </a:r>
            <a:endParaRPr lang="en-US" sz="2800" dirty="0">
              <a:solidFill>
                <a:srgbClr val="002060"/>
              </a:solidFill>
            </a:endParaRPr>
          </a:p>
        </p:txBody>
      </p:sp>
      <p:sp>
        <p:nvSpPr>
          <p:cNvPr id="51" name="Text 51">
            <a:extLst>
              <a:ext uri="{FF2B5EF4-FFF2-40B4-BE49-F238E27FC236}">
                <a16:creationId xmlns:a16="http://schemas.microsoft.com/office/drawing/2014/main" id="{AB8471BD-7A79-4A03-9A8B-44DF68C0E929}"/>
              </a:ext>
            </a:extLst>
          </p:cNvPr>
          <p:cNvSpPr/>
          <p:nvPr/>
        </p:nvSpPr>
        <p:spPr>
          <a:xfrm>
            <a:off x="9606279" y="2779204"/>
            <a:ext cx="8138160" cy="475488"/>
          </a:xfrm>
          <a:prstGeom prst="rect">
            <a:avLst/>
          </a:prstGeom>
          <a:noFill/>
          <a:ln/>
        </p:spPr>
        <p:txBody>
          <a:bodyPr wrap="square" lIns="0" tIns="0" rIns="0" bIns="0" rtlCol="0" anchor="ctr"/>
          <a:lstStyle/>
          <a:p>
            <a:r>
              <a:rPr lang="en-US" sz="2800" b="1" kern="0" spc="400" dirty="0">
                <a:solidFill>
                  <a:srgbClr val="002060"/>
                </a:solidFill>
                <a:ea typeface="Calibri" pitchFamily="34" charset="-122"/>
                <a:cs typeface="Calibri" pitchFamily="34" charset="-120"/>
              </a:rPr>
              <a:t>LONG-STAY CLASSIFICATION </a:t>
            </a:r>
          </a:p>
          <a:p>
            <a:r>
              <a:rPr lang="en-US" sz="2800" b="1" kern="0" spc="400" dirty="0">
                <a:solidFill>
                  <a:srgbClr val="002060"/>
                </a:solidFill>
                <a:ea typeface="Calibri" pitchFamily="34" charset="-122"/>
                <a:cs typeface="Calibri" pitchFamily="34" charset="-120"/>
              </a:rPr>
              <a:t>(≥ 3 days)</a:t>
            </a:r>
            <a:endParaRPr lang="en-US" sz="2800" dirty="0">
              <a:solidFill>
                <a:srgbClr val="002060"/>
              </a:solidFill>
            </a:endParaRPr>
          </a:p>
        </p:txBody>
      </p:sp>
      <p:sp>
        <p:nvSpPr>
          <p:cNvPr id="52" name="Shape 52">
            <a:extLst>
              <a:ext uri="{FF2B5EF4-FFF2-40B4-BE49-F238E27FC236}">
                <a16:creationId xmlns:a16="http://schemas.microsoft.com/office/drawing/2014/main" id="{DDC79566-0574-4796-A46C-C88578538871}"/>
              </a:ext>
            </a:extLst>
          </p:cNvPr>
          <p:cNvSpPr/>
          <p:nvPr/>
        </p:nvSpPr>
        <p:spPr>
          <a:xfrm>
            <a:off x="9606279" y="3771539"/>
            <a:ext cx="8138160" cy="1446309"/>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53" name="Shape 53">
            <a:extLst>
              <a:ext uri="{FF2B5EF4-FFF2-40B4-BE49-F238E27FC236}">
                <a16:creationId xmlns:a16="http://schemas.microsoft.com/office/drawing/2014/main" id="{502E21F0-DC4C-4343-91AE-3C6DCBA6DAF0}"/>
              </a:ext>
            </a:extLst>
          </p:cNvPr>
          <p:cNvSpPr/>
          <p:nvPr/>
        </p:nvSpPr>
        <p:spPr>
          <a:xfrm>
            <a:off x="9606279" y="3771539"/>
            <a:ext cx="950976" cy="1446309"/>
          </a:xfrm>
          <a:prstGeom prst="rect">
            <a:avLst/>
          </a:prstGeom>
          <a:ln/>
        </p:spPr>
        <p:style>
          <a:lnRef idx="3">
            <a:schemeClr val="lt1"/>
          </a:lnRef>
          <a:fillRef idx="1">
            <a:schemeClr val="accent5"/>
          </a:fillRef>
          <a:effectRef idx="1">
            <a:schemeClr val="accent5"/>
          </a:effectRef>
          <a:fontRef idx="minor">
            <a:schemeClr val="lt1"/>
          </a:fontRef>
        </p:style>
        <p:txBody>
          <a:bodyPr/>
          <a:lstStyle/>
          <a:p>
            <a:endParaRPr lang="en-US" sz="2400"/>
          </a:p>
        </p:txBody>
      </p:sp>
      <p:sp>
        <p:nvSpPr>
          <p:cNvPr id="54" name="Text 54">
            <a:extLst>
              <a:ext uri="{FF2B5EF4-FFF2-40B4-BE49-F238E27FC236}">
                <a16:creationId xmlns:a16="http://schemas.microsoft.com/office/drawing/2014/main" id="{9E3379F7-DAE5-4FC7-8D6F-1EB2A67D92EC}"/>
              </a:ext>
            </a:extLst>
          </p:cNvPr>
          <p:cNvSpPr/>
          <p:nvPr/>
        </p:nvSpPr>
        <p:spPr>
          <a:xfrm>
            <a:off x="9606279" y="3771539"/>
            <a:ext cx="950976" cy="1446309"/>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1</a:t>
            </a:r>
            <a:endParaRPr lang="en-US" sz="2400" dirty="0"/>
          </a:p>
        </p:txBody>
      </p:sp>
      <p:sp>
        <p:nvSpPr>
          <p:cNvPr id="55" name="Text 55">
            <a:extLst>
              <a:ext uri="{FF2B5EF4-FFF2-40B4-BE49-F238E27FC236}">
                <a16:creationId xmlns:a16="http://schemas.microsoft.com/office/drawing/2014/main" id="{654E702A-0115-408B-AA5E-07F62DA14CC2}"/>
              </a:ext>
            </a:extLst>
          </p:cNvPr>
          <p:cNvSpPr/>
          <p:nvPr/>
        </p:nvSpPr>
        <p:spPr>
          <a:xfrm>
            <a:off x="10703559" y="3876725"/>
            <a:ext cx="4572000" cy="683710"/>
          </a:xfrm>
          <a:prstGeom prst="rect">
            <a:avLst/>
          </a:prstGeom>
          <a:noFill/>
          <a:ln/>
        </p:spPr>
        <p:txBody>
          <a:bodyPr wrap="square" lIns="0" tIns="0" rIns="0" bIns="0" rtlCol="0" anchor="ctr"/>
          <a:lstStyle/>
          <a:p>
            <a:r>
              <a:rPr lang="en-US" sz="2400" b="1" dirty="0">
                <a:solidFill>
                  <a:srgbClr val="1E293B"/>
                </a:solidFill>
                <a:ea typeface="Calibri" pitchFamily="34" charset="-122"/>
                <a:cs typeface="Calibri" pitchFamily="34" charset="-120"/>
              </a:rPr>
              <a:t>Logistic Regression — Baseline</a:t>
            </a:r>
            <a:endParaRPr lang="en-US" sz="2400" dirty="0"/>
          </a:p>
        </p:txBody>
      </p:sp>
      <p:sp>
        <p:nvSpPr>
          <p:cNvPr id="56" name="Text 56">
            <a:extLst>
              <a:ext uri="{FF2B5EF4-FFF2-40B4-BE49-F238E27FC236}">
                <a16:creationId xmlns:a16="http://schemas.microsoft.com/office/drawing/2014/main" id="{F58CD006-4CBD-4729-A019-34545B32ADB5}"/>
              </a:ext>
            </a:extLst>
          </p:cNvPr>
          <p:cNvSpPr/>
          <p:nvPr/>
        </p:nvSpPr>
        <p:spPr>
          <a:xfrm>
            <a:off x="10703559" y="4560435"/>
            <a:ext cx="4572000" cy="525931"/>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Acc: 77.8%  ·  ROC-AUC: ~0.83</a:t>
            </a:r>
            <a:endParaRPr lang="en-US" sz="2400" dirty="0"/>
          </a:p>
        </p:txBody>
      </p:sp>
      <p:sp>
        <p:nvSpPr>
          <p:cNvPr id="57" name="Shape 57">
            <a:extLst>
              <a:ext uri="{FF2B5EF4-FFF2-40B4-BE49-F238E27FC236}">
                <a16:creationId xmlns:a16="http://schemas.microsoft.com/office/drawing/2014/main" id="{A6848E20-4AEA-41B1-9C58-C1394326AFE2}"/>
              </a:ext>
            </a:extLst>
          </p:cNvPr>
          <p:cNvSpPr/>
          <p:nvPr/>
        </p:nvSpPr>
        <p:spPr>
          <a:xfrm>
            <a:off x="9606279" y="5401924"/>
            <a:ext cx="8138160" cy="1446309"/>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58" name="Shape 58">
            <a:extLst>
              <a:ext uri="{FF2B5EF4-FFF2-40B4-BE49-F238E27FC236}">
                <a16:creationId xmlns:a16="http://schemas.microsoft.com/office/drawing/2014/main" id="{CDC88F45-A3D0-416E-BCA7-E78B2FFED62E}"/>
              </a:ext>
            </a:extLst>
          </p:cNvPr>
          <p:cNvSpPr/>
          <p:nvPr/>
        </p:nvSpPr>
        <p:spPr>
          <a:xfrm>
            <a:off x="9606279" y="5401924"/>
            <a:ext cx="950976" cy="1446309"/>
          </a:xfrm>
          <a:prstGeom prst="rect">
            <a:avLst/>
          </a:prstGeom>
          <a:ln/>
        </p:spPr>
        <p:style>
          <a:lnRef idx="3">
            <a:schemeClr val="lt1"/>
          </a:lnRef>
          <a:fillRef idx="1">
            <a:schemeClr val="accent4"/>
          </a:fillRef>
          <a:effectRef idx="1">
            <a:schemeClr val="accent4"/>
          </a:effectRef>
          <a:fontRef idx="minor">
            <a:schemeClr val="lt1"/>
          </a:fontRef>
        </p:style>
        <p:txBody>
          <a:bodyPr/>
          <a:lstStyle/>
          <a:p>
            <a:endParaRPr lang="en-US" sz="2400"/>
          </a:p>
        </p:txBody>
      </p:sp>
      <p:sp>
        <p:nvSpPr>
          <p:cNvPr id="59" name="Text 59">
            <a:extLst>
              <a:ext uri="{FF2B5EF4-FFF2-40B4-BE49-F238E27FC236}">
                <a16:creationId xmlns:a16="http://schemas.microsoft.com/office/drawing/2014/main" id="{6DECADCD-FFAF-4B2D-91BD-59DAA1B86ED2}"/>
              </a:ext>
            </a:extLst>
          </p:cNvPr>
          <p:cNvSpPr/>
          <p:nvPr/>
        </p:nvSpPr>
        <p:spPr>
          <a:xfrm>
            <a:off x="9606279" y="5401924"/>
            <a:ext cx="950976" cy="1446309"/>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2</a:t>
            </a:r>
            <a:endParaRPr lang="en-US" sz="2400" dirty="0"/>
          </a:p>
        </p:txBody>
      </p:sp>
      <p:sp>
        <p:nvSpPr>
          <p:cNvPr id="60" name="Text 60">
            <a:extLst>
              <a:ext uri="{FF2B5EF4-FFF2-40B4-BE49-F238E27FC236}">
                <a16:creationId xmlns:a16="http://schemas.microsoft.com/office/drawing/2014/main" id="{56032537-0C45-4E80-B74F-133F5C3D50AF}"/>
              </a:ext>
            </a:extLst>
          </p:cNvPr>
          <p:cNvSpPr/>
          <p:nvPr/>
        </p:nvSpPr>
        <p:spPr>
          <a:xfrm>
            <a:off x="10703559" y="5507110"/>
            <a:ext cx="4572000" cy="683710"/>
          </a:xfrm>
          <a:prstGeom prst="rect">
            <a:avLst/>
          </a:prstGeom>
          <a:noFill/>
          <a:ln/>
        </p:spPr>
        <p:txBody>
          <a:bodyPr wrap="square" lIns="0" tIns="0" rIns="0" bIns="0" rtlCol="0" anchor="ctr"/>
          <a:lstStyle/>
          <a:p>
            <a:r>
              <a:rPr lang="en-US" sz="2400" b="1" dirty="0">
                <a:solidFill>
                  <a:srgbClr val="1E293B"/>
                </a:solidFill>
                <a:ea typeface="Calibri" pitchFamily="34" charset="-122"/>
                <a:cs typeface="Calibri" pitchFamily="34" charset="-120"/>
              </a:rPr>
              <a:t>Gradient Boosting — Intermediate</a:t>
            </a:r>
            <a:endParaRPr lang="en-US" sz="2400" dirty="0"/>
          </a:p>
        </p:txBody>
      </p:sp>
      <p:sp>
        <p:nvSpPr>
          <p:cNvPr id="61" name="Text 61">
            <a:extLst>
              <a:ext uri="{FF2B5EF4-FFF2-40B4-BE49-F238E27FC236}">
                <a16:creationId xmlns:a16="http://schemas.microsoft.com/office/drawing/2014/main" id="{03098953-3F91-43E5-A744-A582BD5332A6}"/>
              </a:ext>
            </a:extLst>
          </p:cNvPr>
          <p:cNvSpPr/>
          <p:nvPr/>
        </p:nvSpPr>
        <p:spPr>
          <a:xfrm>
            <a:off x="10703559" y="6190819"/>
            <a:ext cx="4572000" cy="525931"/>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Acc: ~77%  ·  ROC-AUC: ~0.83</a:t>
            </a:r>
            <a:endParaRPr lang="en-US" sz="2400" dirty="0"/>
          </a:p>
        </p:txBody>
      </p:sp>
      <p:sp>
        <p:nvSpPr>
          <p:cNvPr id="62" name="Shape 62">
            <a:extLst>
              <a:ext uri="{FF2B5EF4-FFF2-40B4-BE49-F238E27FC236}">
                <a16:creationId xmlns:a16="http://schemas.microsoft.com/office/drawing/2014/main" id="{1226C230-4D8A-486E-8CC4-CB0AB1DB93CA}"/>
              </a:ext>
            </a:extLst>
          </p:cNvPr>
          <p:cNvSpPr/>
          <p:nvPr/>
        </p:nvSpPr>
        <p:spPr>
          <a:xfrm>
            <a:off x="9606279" y="7032308"/>
            <a:ext cx="8138160" cy="1446309"/>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63" name="Shape 63">
            <a:extLst>
              <a:ext uri="{FF2B5EF4-FFF2-40B4-BE49-F238E27FC236}">
                <a16:creationId xmlns:a16="http://schemas.microsoft.com/office/drawing/2014/main" id="{9F024B5E-C8FB-4900-B5D1-ED50D7C77DB1}"/>
              </a:ext>
            </a:extLst>
          </p:cNvPr>
          <p:cNvSpPr/>
          <p:nvPr/>
        </p:nvSpPr>
        <p:spPr>
          <a:xfrm>
            <a:off x="9606279" y="7032308"/>
            <a:ext cx="950976" cy="1446309"/>
          </a:xfrm>
          <a:prstGeom prst="rect">
            <a:avLst/>
          </a:prstGeom>
          <a:solidFill>
            <a:srgbClr val="1B3A6B"/>
          </a:solidFill>
          <a:ln w="12700">
            <a:solidFill>
              <a:srgbClr val="1B3A6B"/>
            </a:solidFill>
            <a:prstDash val="solid"/>
          </a:ln>
        </p:spPr>
        <p:txBody>
          <a:bodyPr/>
          <a:lstStyle/>
          <a:p>
            <a:endParaRPr lang="en-US" sz="2400"/>
          </a:p>
        </p:txBody>
      </p:sp>
      <p:sp>
        <p:nvSpPr>
          <p:cNvPr id="64" name="Text 64">
            <a:extLst>
              <a:ext uri="{FF2B5EF4-FFF2-40B4-BE49-F238E27FC236}">
                <a16:creationId xmlns:a16="http://schemas.microsoft.com/office/drawing/2014/main" id="{DFF08A2F-B18F-47BF-A928-47B0E6F0F4E1}"/>
              </a:ext>
            </a:extLst>
          </p:cNvPr>
          <p:cNvSpPr/>
          <p:nvPr/>
        </p:nvSpPr>
        <p:spPr>
          <a:xfrm>
            <a:off x="9606279" y="7032308"/>
            <a:ext cx="950976" cy="1446309"/>
          </a:xfrm>
          <a:prstGeom prst="rect">
            <a:avLst/>
          </a:prstGeom>
          <a:ln/>
        </p:spPr>
        <p:style>
          <a:lnRef idx="3">
            <a:schemeClr val="lt1"/>
          </a:lnRef>
          <a:fillRef idx="1">
            <a:schemeClr val="accent2"/>
          </a:fillRef>
          <a:effectRef idx="1">
            <a:schemeClr val="accent2"/>
          </a:effectRef>
          <a:fontRef idx="minor">
            <a:schemeClr val="lt1"/>
          </a:fontRef>
        </p:style>
        <p:txBody>
          <a:bodyPr wrap="square" lIns="0" tIns="0" rIns="0" bIns="0" rtlCol="0" anchor="ctr"/>
          <a:lstStyle/>
          <a:p>
            <a:pPr algn="ctr"/>
            <a:r>
              <a:rPr lang="en-US" sz="2400" b="1" dirty="0">
                <a:solidFill>
                  <a:srgbClr val="FFFFFF"/>
                </a:solidFill>
                <a:ea typeface="Calibri" pitchFamily="34" charset="-122"/>
                <a:cs typeface="Calibri" pitchFamily="34" charset="-120"/>
              </a:rPr>
              <a:t>3</a:t>
            </a:r>
            <a:endParaRPr lang="en-US" sz="2400" dirty="0"/>
          </a:p>
        </p:txBody>
      </p:sp>
      <p:sp>
        <p:nvSpPr>
          <p:cNvPr id="65" name="Text 65">
            <a:extLst>
              <a:ext uri="{FF2B5EF4-FFF2-40B4-BE49-F238E27FC236}">
                <a16:creationId xmlns:a16="http://schemas.microsoft.com/office/drawing/2014/main" id="{78AF1F5E-FC95-4753-B2C6-4531A529A4BE}"/>
              </a:ext>
            </a:extLst>
          </p:cNvPr>
          <p:cNvSpPr/>
          <p:nvPr/>
        </p:nvSpPr>
        <p:spPr>
          <a:xfrm>
            <a:off x="10703559" y="7137494"/>
            <a:ext cx="4572000" cy="683710"/>
          </a:xfrm>
          <a:prstGeom prst="rect">
            <a:avLst/>
          </a:prstGeom>
          <a:noFill/>
          <a:ln/>
        </p:spPr>
        <p:txBody>
          <a:bodyPr wrap="square" lIns="0" tIns="0" rIns="0" bIns="0" rtlCol="0" anchor="ctr"/>
          <a:lstStyle/>
          <a:p>
            <a:r>
              <a:rPr lang="en-US" sz="2400" b="1" dirty="0">
                <a:solidFill>
                  <a:srgbClr val="1E293B"/>
                </a:solidFill>
                <a:ea typeface="Calibri" pitchFamily="34" charset="-122"/>
                <a:cs typeface="Calibri" pitchFamily="34" charset="-120"/>
              </a:rPr>
              <a:t>Neural Network (MLP) — ★ Best</a:t>
            </a:r>
            <a:endParaRPr lang="en-US" sz="2400" dirty="0"/>
          </a:p>
        </p:txBody>
      </p:sp>
      <p:sp>
        <p:nvSpPr>
          <p:cNvPr id="66" name="Text 66">
            <a:extLst>
              <a:ext uri="{FF2B5EF4-FFF2-40B4-BE49-F238E27FC236}">
                <a16:creationId xmlns:a16="http://schemas.microsoft.com/office/drawing/2014/main" id="{37469536-91EC-4EFE-BEC5-3FC56CDDFBC7}"/>
              </a:ext>
            </a:extLst>
          </p:cNvPr>
          <p:cNvSpPr/>
          <p:nvPr/>
        </p:nvSpPr>
        <p:spPr>
          <a:xfrm>
            <a:off x="10703559" y="7821204"/>
            <a:ext cx="4572000" cy="525931"/>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Acc: 78.3%  ·  ROC-AUC: 0.837</a:t>
            </a:r>
            <a:endParaRPr lang="en-US" sz="2400" dirty="0"/>
          </a:p>
        </p:txBody>
      </p:sp>
      <p:pic>
        <p:nvPicPr>
          <p:cNvPr id="91" name="Picture 90">
            <a:extLst>
              <a:ext uri="{FF2B5EF4-FFF2-40B4-BE49-F238E27FC236}">
                <a16:creationId xmlns:a16="http://schemas.microsoft.com/office/drawing/2014/main" id="{D4471E7B-9667-40C7-BDEF-FC1B15023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980" y="3880364"/>
            <a:ext cx="8657659" cy="4489427"/>
          </a:xfrm>
          <a:prstGeom prst="rect">
            <a:avLst/>
          </a:prstGeom>
        </p:spPr>
      </p:pic>
    </p:spTree>
    <p:extLst>
      <p:ext uri="{BB962C8B-B14F-4D97-AF65-F5344CB8AC3E}">
        <p14:creationId xmlns:p14="http://schemas.microsoft.com/office/powerpoint/2010/main" val="1584562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FB65-C32C-8710-161F-552E3E3780E2}"/>
              </a:ext>
            </a:extLst>
          </p:cNvPr>
          <p:cNvSpPr>
            <a:spLocks noGrp="1"/>
          </p:cNvSpPr>
          <p:nvPr>
            <p:ph type="title"/>
          </p:nvPr>
        </p:nvSpPr>
        <p:spPr>
          <a:xfrm>
            <a:off x="768096" y="554156"/>
            <a:ext cx="15773400" cy="775596"/>
          </a:xfrm>
        </p:spPr>
        <p:txBody>
          <a:bodyPr/>
          <a:lstStyle/>
          <a:p>
            <a:r>
              <a:rPr lang="en-US" dirty="0"/>
              <a:t>Key Results</a:t>
            </a:r>
          </a:p>
        </p:txBody>
      </p:sp>
      <p:sp>
        <p:nvSpPr>
          <p:cNvPr id="4" name="Text Placeholder 3">
            <a:extLst>
              <a:ext uri="{FF2B5EF4-FFF2-40B4-BE49-F238E27FC236}">
                <a16:creationId xmlns:a16="http://schemas.microsoft.com/office/drawing/2014/main" id="{37C08A08-E747-E75C-4B7F-7D132DDF338D}"/>
              </a:ext>
            </a:extLst>
          </p:cNvPr>
          <p:cNvSpPr>
            <a:spLocks noGrp="1"/>
          </p:cNvSpPr>
          <p:nvPr>
            <p:ph type="body" sz="quarter" idx="10"/>
          </p:nvPr>
        </p:nvSpPr>
        <p:spPr>
          <a:xfrm>
            <a:off x="768096" y="1512448"/>
            <a:ext cx="15773400" cy="549382"/>
          </a:xfrm>
        </p:spPr>
        <p:txBody>
          <a:bodyPr/>
          <a:lstStyle/>
          <a:p>
            <a:r>
              <a:rPr lang="en-US" dirty="0">
                <a:ea typeface="Calibri" pitchFamily="34" charset="-122"/>
                <a:cs typeface="Calibri" pitchFamily="34" charset="-120"/>
              </a:rPr>
              <a:t>Uncertainty Estimation &amp; Feature Importance</a:t>
            </a:r>
            <a:endParaRPr lang="en-US" dirty="0"/>
          </a:p>
        </p:txBody>
      </p:sp>
      <p:sp>
        <p:nvSpPr>
          <p:cNvPr id="6" name="Text 3">
            <a:extLst>
              <a:ext uri="{FF2B5EF4-FFF2-40B4-BE49-F238E27FC236}">
                <a16:creationId xmlns:a16="http://schemas.microsoft.com/office/drawing/2014/main" id="{D20CDF7D-176A-426D-BE6A-460BB08D50E3}"/>
              </a:ext>
            </a:extLst>
          </p:cNvPr>
          <p:cNvSpPr/>
          <p:nvPr/>
        </p:nvSpPr>
        <p:spPr>
          <a:xfrm>
            <a:off x="768096" y="841248"/>
            <a:ext cx="15544800" cy="1060704"/>
          </a:xfrm>
          <a:prstGeom prst="rect">
            <a:avLst/>
          </a:prstGeom>
          <a:noFill/>
          <a:ln/>
        </p:spPr>
        <p:txBody>
          <a:bodyPr wrap="square" lIns="0" tIns="0" rIns="0" bIns="0" rtlCol="0" anchor="ctr"/>
          <a:lstStyle/>
          <a:p>
            <a:endParaRPr lang="en-US" sz="4000" dirty="0"/>
          </a:p>
        </p:txBody>
      </p:sp>
      <p:sp>
        <p:nvSpPr>
          <p:cNvPr id="10" name="Text 7">
            <a:extLst>
              <a:ext uri="{FF2B5EF4-FFF2-40B4-BE49-F238E27FC236}">
                <a16:creationId xmlns:a16="http://schemas.microsoft.com/office/drawing/2014/main" id="{4857066D-1AC9-48D2-8331-4D317844EBEF}"/>
              </a:ext>
            </a:extLst>
          </p:cNvPr>
          <p:cNvSpPr/>
          <p:nvPr/>
        </p:nvSpPr>
        <p:spPr>
          <a:xfrm>
            <a:off x="768096" y="9912096"/>
            <a:ext cx="17007840" cy="365760"/>
          </a:xfrm>
          <a:prstGeom prst="rect">
            <a:avLst/>
          </a:prstGeom>
          <a:noFill/>
          <a:ln/>
        </p:spPr>
        <p:txBody>
          <a:bodyPr wrap="square" lIns="0" tIns="0" rIns="0" bIns="0" rtlCol="0" anchor="ctr"/>
          <a:lstStyle/>
          <a:p>
            <a:r>
              <a:rPr lang="en-US" sz="1600" dirty="0">
                <a:solidFill>
                  <a:srgbClr val="FFFFFF"/>
                </a:solidFill>
                <a:ea typeface="Calibri" pitchFamily="34" charset="-122"/>
                <a:cs typeface="Calibri" pitchFamily="34" charset="-120"/>
              </a:rPr>
              <a:t>SAS® Curiosity Cup 2026  ·  Frontline Forecast  ·  University of North Texas</a:t>
            </a:r>
            <a:endParaRPr lang="en-US" sz="1600" dirty="0"/>
          </a:p>
        </p:txBody>
      </p:sp>
      <p:pic>
        <p:nvPicPr>
          <p:cNvPr id="90" name="Picture 89">
            <a:extLst>
              <a:ext uri="{FF2B5EF4-FFF2-40B4-BE49-F238E27FC236}">
                <a16:creationId xmlns:a16="http://schemas.microsoft.com/office/drawing/2014/main" id="{23707CF3-9E08-4743-8F57-82B633FBB2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3" y="2731628"/>
            <a:ext cx="17062714" cy="5840872"/>
          </a:xfrm>
          <a:prstGeom prst="rect">
            <a:avLst/>
          </a:prstGeom>
        </p:spPr>
      </p:pic>
    </p:spTree>
    <p:extLst>
      <p:ext uri="{BB962C8B-B14F-4D97-AF65-F5344CB8AC3E}">
        <p14:creationId xmlns:p14="http://schemas.microsoft.com/office/powerpoint/2010/main" val="4249268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FB65-C32C-8710-161F-552E3E3780E2}"/>
              </a:ext>
            </a:extLst>
          </p:cNvPr>
          <p:cNvSpPr>
            <a:spLocks noGrp="1"/>
          </p:cNvSpPr>
          <p:nvPr>
            <p:ph type="title"/>
          </p:nvPr>
        </p:nvSpPr>
        <p:spPr/>
        <p:txBody>
          <a:bodyPr/>
          <a:lstStyle/>
          <a:p>
            <a:r>
              <a:rPr lang="en-US" dirty="0"/>
              <a:t>Key Results</a:t>
            </a:r>
          </a:p>
        </p:txBody>
      </p:sp>
      <p:sp>
        <p:nvSpPr>
          <p:cNvPr id="4" name="Text Placeholder 3">
            <a:extLst>
              <a:ext uri="{FF2B5EF4-FFF2-40B4-BE49-F238E27FC236}">
                <a16:creationId xmlns:a16="http://schemas.microsoft.com/office/drawing/2014/main" id="{37C08A08-E747-E75C-4B7F-7D132DDF338D}"/>
              </a:ext>
            </a:extLst>
          </p:cNvPr>
          <p:cNvSpPr>
            <a:spLocks noGrp="1"/>
          </p:cNvSpPr>
          <p:nvPr>
            <p:ph type="body" sz="quarter" idx="10"/>
          </p:nvPr>
        </p:nvSpPr>
        <p:spPr/>
        <p:txBody>
          <a:bodyPr/>
          <a:lstStyle/>
          <a:p>
            <a:r>
              <a:rPr lang="en-US" dirty="0">
                <a:ea typeface="Calibri" pitchFamily="34" charset="-122"/>
                <a:cs typeface="Calibri" pitchFamily="34" charset="-120"/>
              </a:rPr>
              <a:t>Uncertainty Estimation &amp; Feature Importance</a:t>
            </a:r>
            <a:endParaRPr lang="en-US" dirty="0"/>
          </a:p>
        </p:txBody>
      </p:sp>
      <p:sp>
        <p:nvSpPr>
          <p:cNvPr id="6" name="Text 3">
            <a:extLst>
              <a:ext uri="{FF2B5EF4-FFF2-40B4-BE49-F238E27FC236}">
                <a16:creationId xmlns:a16="http://schemas.microsoft.com/office/drawing/2014/main" id="{D20CDF7D-176A-426D-BE6A-460BB08D50E3}"/>
              </a:ext>
            </a:extLst>
          </p:cNvPr>
          <p:cNvSpPr/>
          <p:nvPr/>
        </p:nvSpPr>
        <p:spPr>
          <a:xfrm>
            <a:off x="768096" y="841248"/>
            <a:ext cx="15544800" cy="1060704"/>
          </a:xfrm>
          <a:prstGeom prst="rect">
            <a:avLst/>
          </a:prstGeom>
          <a:noFill/>
          <a:ln/>
        </p:spPr>
        <p:txBody>
          <a:bodyPr wrap="square" lIns="0" tIns="0" rIns="0" bIns="0" rtlCol="0" anchor="ctr"/>
          <a:lstStyle/>
          <a:p>
            <a:endParaRPr lang="en-US" sz="4000" dirty="0"/>
          </a:p>
        </p:txBody>
      </p:sp>
      <p:sp>
        <p:nvSpPr>
          <p:cNvPr id="10" name="Text 7">
            <a:extLst>
              <a:ext uri="{FF2B5EF4-FFF2-40B4-BE49-F238E27FC236}">
                <a16:creationId xmlns:a16="http://schemas.microsoft.com/office/drawing/2014/main" id="{4857066D-1AC9-48D2-8331-4D317844EBEF}"/>
              </a:ext>
            </a:extLst>
          </p:cNvPr>
          <p:cNvSpPr/>
          <p:nvPr/>
        </p:nvSpPr>
        <p:spPr>
          <a:xfrm>
            <a:off x="768096" y="9912096"/>
            <a:ext cx="17007840" cy="365760"/>
          </a:xfrm>
          <a:prstGeom prst="rect">
            <a:avLst/>
          </a:prstGeom>
          <a:noFill/>
          <a:ln/>
        </p:spPr>
        <p:txBody>
          <a:bodyPr wrap="square" lIns="0" tIns="0" rIns="0" bIns="0" rtlCol="0" anchor="ctr"/>
          <a:lstStyle/>
          <a:p>
            <a:r>
              <a:rPr lang="en-US" sz="1600" dirty="0">
                <a:solidFill>
                  <a:srgbClr val="FFFFFF"/>
                </a:solidFill>
                <a:ea typeface="Calibri" pitchFamily="34" charset="-122"/>
                <a:cs typeface="Calibri" pitchFamily="34" charset="-120"/>
              </a:rPr>
              <a:t>SAS® Curiosity Cup 2026  ·  Frontline Forecast  ·  University of North Texas</a:t>
            </a:r>
            <a:endParaRPr lang="en-US" sz="1600" dirty="0"/>
          </a:p>
        </p:txBody>
      </p:sp>
      <p:pic>
        <p:nvPicPr>
          <p:cNvPr id="5" name="Picture 4">
            <a:extLst>
              <a:ext uri="{FF2B5EF4-FFF2-40B4-BE49-F238E27FC236}">
                <a16:creationId xmlns:a16="http://schemas.microsoft.com/office/drawing/2014/main" id="{9C4AAD2A-AEC9-4E92-BEB5-939C65BF9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598" y="2282952"/>
            <a:ext cx="14152835" cy="7162800"/>
          </a:xfrm>
          <a:prstGeom prst="rect">
            <a:avLst/>
          </a:prstGeom>
        </p:spPr>
      </p:pic>
    </p:spTree>
    <p:extLst>
      <p:ext uri="{BB962C8B-B14F-4D97-AF65-F5344CB8AC3E}">
        <p14:creationId xmlns:p14="http://schemas.microsoft.com/office/powerpoint/2010/main" val="216555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AFB65-C32C-8710-161F-552E3E3780E2}"/>
              </a:ext>
            </a:extLst>
          </p:cNvPr>
          <p:cNvSpPr>
            <a:spLocks noGrp="1"/>
          </p:cNvSpPr>
          <p:nvPr>
            <p:ph type="title"/>
          </p:nvPr>
        </p:nvSpPr>
        <p:spPr/>
        <p:txBody>
          <a:bodyPr/>
          <a:lstStyle/>
          <a:p>
            <a:r>
              <a:rPr lang="en-US" dirty="0"/>
              <a:t>Key Results</a:t>
            </a:r>
          </a:p>
        </p:txBody>
      </p:sp>
      <p:sp>
        <p:nvSpPr>
          <p:cNvPr id="4" name="Text Placeholder 3">
            <a:extLst>
              <a:ext uri="{FF2B5EF4-FFF2-40B4-BE49-F238E27FC236}">
                <a16:creationId xmlns:a16="http://schemas.microsoft.com/office/drawing/2014/main" id="{37C08A08-E747-E75C-4B7F-7D132DDF338D}"/>
              </a:ext>
            </a:extLst>
          </p:cNvPr>
          <p:cNvSpPr>
            <a:spLocks noGrp="1"/>
          </p:cNvSpPr>
          <p:nvPr>
            <p:ph type="body" sz="quarter" idx="10"/>
          </p:nvPr>
        </p:nvSpPr>
        <p:spPr/>
        <p:txBody>
          <a:bodyPr/>
          <a:lstStyle/>
          <a:p>
            <a:r>
              <a:rPr lang="en-US" dirty="0">
                <a:ea typeface="Calibri" pitchFamily="34" charset="-122"/>
                <a:cs typeface="Calibri" pitchFamily="34" charset="-120"/>
              </a:rPr>
              <a:t>Uncertainty Estimation &amp; Feature Importance</a:t>
            </a:r>
            <a:endParaRPr lang="en-US" dirty="0"/>
          </a:p>
        </p:txBody>
      </p:sp>
      <p:sp>
        <p:nvSpPr>
          <p:cNvPr id="6" name="Text 3">
            <a:extLst>
              <a:ext uri="{FF2B5EF4-FFF2-40B4-BE49-F238E27FC236}">
                <a16:creationId xmlns:a16="http://schemas.microsoft.com/office/drawing/2014/main" id="{D20CDF7D-176A-426D-BE6A-460BB08D50E3}"/>
              </a:ext>
            </a:extLst>
          </p:cNvPr>
          <p:cNvSpPr/>
          <p:nvPr/>
        </p:nvSpPr>
        <p:spPr>
          <a:xfrm>
            <a:off x="768096" y="841248"/>
            <a:ext cx="15544800" cy="1060704"/>
          </a:xfrm>
          <a:prstGeom prst="rect">
            <a:avLst/>
          </a:prstGeom>
          <a:noFill/>
          <a:ln/>
        </p:spPr>
        <p:txBody>
          <a:bodyPr wrap="square" lIns="0" tIns="0" rIns="0" bIns="0" rtlCol="0" anchor="ctr"/>
          <a:lstStyle/>
          <a:p>
            <a:endParaRPr lang="en-US" sz="4000" dirty="0"/>
          </a:p>
        </p:txBody>
      </p:sp>
      <p:sp>
        <p:nvSpPr>
          <p:cNvPr id="10" name="Text 7">
            <a:extLst>
              <a:ext uri="{FF2B5EF4-FFF2-40B4-BE49-F238E27FC236}">
                <a16:creationId xmlns:a16="http://schemas.microsoft.com/office/drawing/2014/main" id="{4857066D-1AC9-48D2-8331-4D317844EBEF}"/>
              </a:ext>
            </a:extLst>
          </p:cNvPr>
          <p:cNvSpPr/>
          <p:nvPr/>
        </p:nvSpPr>
        <p:spPr>
          <a:xfrm>
            <a:off x="768096" y="9912096"/>
            <a:ext cx="17007840" cy="365760"/>
          </a:xfrm>
          <a:prstGeom prst="rect">
            <a:avLst/>
          </a:prstGeom>
          <a:noFill/>
          <a:ln/>
        </p:spPr>
        <p:txBody>
          <a:bodyPr wrap="square" lIns="0" tIns="0" rIns="0" bIns="0" rtlCol="0" anchor="ctr"/>
          <a:lstStyle/>
          <a:p>
            <a:r>
              <a:rPr lang="en-US" sz="1600" dirty="0">
                <a:solidFill>
                  <a:srgbClr val="FFFFFF"/>
                </a:solidFill>
                <a:ea typeface="Calibri" pitchFamily="34" charset="-122"/>
                <a:cs typeface="Calibri" pitchFamily="34" charset="-120"/>
              </a:rPr>
              <a:t>SAS® Curiosity Cup 2026  ·  Frontline Forecast  ·  University of North Texas</a:t>
            </a:r>
            <a:endParaRPr lang="en-US" sz="1600" dirty="0"/>
          </a:p>
        </p:txBody>
      </p:sp>
      <p:sp>
        <p:nvSpPr>
          <p:cNvPr id="48" name="Text 47">
            <a:extLst>
              <a:ext uri="{FF2B5EF4-FFF2-40B4-BE49-F238E27FC236}">
                <a16:creationId xmlns:a16="http://schemas.microsoft.com/office/drawing/2014/main" id="{1175C0A5-E000-42E9-BC2A-A55348DFD651}"/>
              </a:ext>
            </a:extLst>
          </p:cNvPr>
          <p:cNvSpPr/>
          <p:nvPr/>
        </p:nvSpPr>
        <p:spPr>
          <a:xfrm>
            <a:off x="1509098" y="2508075"/>
            <a:ext cx="8138160" cy="475488"/>
          </a:xfrm>
          <a:prstGeom prst="rect">
            <a:avLst/>
          </a:prstGeom>
          <a:noFill/>
          <a:ln/>
        </p:spPr>
        <p:txBody>
          <a:bodyPr wrap="square" lIns="0" tIns="0" rIns="0" bIns="0" rtlCol="0" anchor="ctr"/>
          <a:lstStyle/>
          <a:p>
            <a:r>
              <a:rPr lang="en-US" sz="2600" b="1" kern="0" spc="400" dirty="0">
                <a:solidFill>
                  <a:srgbClr val="002060"/>
                </a:solidFill>
                <a:ea typeface="Calibri" pitchFamily="34" charset="-122"/>
                <a:cs typeface="Calibri" pitchFamily="34" charset="-120"/>
              </a:rPr>
              <a:t>TOP FEATURES </a:t>
            </a:r>
          </a:p>
        </p:txBody>
      </p:sp>
      <p:sp>
        <p:nvSpPr>
          <p:cNvPr id="49" name="Text 48">
            <a:extLst>
              <a:ext uri="{FF2B5EF4-FFF2-40B4-BE49-F238E27FC236}">
                <a16:creationId xmlns:a16="http://schemas.microsoft.com/office/drawing/2014/main" id="{958A0166-58B9-4599-82A2-1158BEC8669E}"/>
              </a:ext>
            </a:extLst>
          </p:cNvPr>
          <p:cNvSpPr/>
          <p:nvPr/>
        </p:nvSpPr>
        <p:spPr>
          <a:xfrm>
            <a:off x="1509098" y="3078202"/>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Number of Medications</a:t>
            </a:r>
            <a:endParaRPr lang="en-US" sz="2400" dirty="0"/>
          </a:p>
        </p:txBody>
      </p:sp>
      <p:sp>
        <p:nvSpPr>
          <p:cNvPr id="50" name="Shape 49">
            <a:extLst>
              <a:ext uri="{FF2B5EF4-FFF2-40B4-BE49-F238E27FC236}">
                <a16:creationId xmlns:a16="http://schemas.microsoft.com/office/drawing/2014/main" id="{72E548B9-ABAC-4F69-9624-C73D403FA4A3}"/>
              </a:ext>
            </a:extLst>
          </p:cNvPr>
          <p:cNvSpPr/>
          <p:nvPr/>
        </p:nvSpPr>
        <p:spPr>
          <a:xfrm>
            <a:off x="5248656" y="3261864"/>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51" name="Shape 50">
            <a:extLst>
              <a:ext uri="{FF2B5EF4-FFF2-40B4-BE49-F238E27FC236}">
                <a16:creationId xmlns:a16="http://schemas.microsoft.com/office/drawing/2014/main" id="{319BFEB9-F2DD-4697-A97E-B5FBF1D4708C}"/>
              </a:ext>
            </a:extLst>
          </p:cNvPr>
          <p:cNvSpPr/>
          <p:nvPr/>
        </p:nvSpPr>
        <p:spPr>
          <a:xfrm>
            <a:off x="5248656" y="3261864"/>
            <a:ext cx="2743200" cy="329184"/>
          </a:xfrm>
          <a:prstGeom prst="rect">
            <a:avLst/>
          </a:prstGeom>
          <a:solidFill>
            <a:srgbClr val="1B3A6B"/>
          </a:solidFill>
          <a:ln w="12700">
            <a:solidFill>
              <a:srgbClr val="1B3A6B"/>
            </a:solidFill>
            <a:prstDash val="solid"/>
          </a:ln>
        </p:spPr>
        <p:txBody>
          <a:bodyPr/>
          <a:lstStyle/>
          <a:p>
            <a:endParaRPr lang="en-US" sz="2400"/>
          </a:p>
        </p:txBody>
      </p:sp>
      <p:sp>
        <p:nvSpPr>
          <p:cNvPr id="52" name="Text 52">
            <a:extLst>
              <a:ext uri="{FF2B5EF4-FFF2-40B4-BE49-F238E27FC236}">
                <a16:creationId xmlns:a16="http://schemas.microsoft.com/office/drawing/2014/main" id="{B37D9B2F-519B-484D-A372-4DD2FAB2CD1C}"/>
              </a:ext>
            </a:extLst>
          </p:cNvPr>
          <p:cNvSpPr/>
          <p:nvPr/>
        </p:nvSpPr>
        <p:spPr>
          <a:xfrm>
            <a:off x="1509098" y="3782290"/>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Primary Diagnosis</a:t>
            </a:r>
            <a:endParaRPr lang="en-US" sz="2400" dirty="0"/>
          </a:p>
        </p:txBody>
      </p:sp>
      <p:sp>
        <p:nvSpPr>
          <p:cNvPr id="53" name="Shape 53">
            <a:extLst>
              <a:ext uri="{FF2B5EF4-FFF2-40B4-BE49-F238E27FC236}">
                <a16:creationId xmlns:a16="http://schemas.microsoft.com/office/drawing/2014/main" id="{2A02BB2C-E421-43D7-B2E0-6C273909738F}"/>
              </a:ext>
            </a:extLst>
          </p:cNvPr>
          <p:cNvSpPr/>
          <p:nvPr/>
        </p:nvSpPr>
        <p:spPr>
          <a:xfrm>
            <a:off x="5248656" y="3965952"/>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54" name="Shape 54">
            <a:extLst>
              <a:ext uri="{FF2B5EF4-FFF2-40B4-BE49-F238E27FC236}">
                <a16:creationId xmlns:a16="http://schemas.microsoft.com/office/drawing/2014/main" id="{CD057455-30B3-4D7A-BC84-23AAA4CB2E15}"/>
              </a:ext>
            </a:extLst>
          </p:cNvPr>
          <p:cNvSpPr/>
          <p:nvPr/>
        </p:nvSpPr>
        <p:spPr>
          <a:xfrm>
            <a:off x="5248656" y="3965952"/>
            <a:ext cx="1755648" cy="329184"/>
          </a:xfrm>
          <a:prstGeom prst="rect">
            <a:avLst/>
          </a:prstGeom>
          <a:solidFill>
            <a:srgbClr val="0D7377"/>
          </a:solidFill>
          <a:ln w="12700">
            <a:solidFill>
              <a:srgbClr val="0D7377"/>
            </a:solidFill>
            <a:prstDash val="solid"/>
          </a:ln>
        </p:spPr>
        <p:txBody>
          <a:bodyPr/>
          <a:lstStyle/>
          <a:p>
            <a:endParaRPr lang="en-US" sz="2400"/>
          </a:p>
        </p:txBody>
      </p:sp>
      <p:sp>
        <p:nvSpPr>
          <p:cNvPr id="55" name="Text 56">
            <a:extLst>
              <a:ext uri="{FF2B5EF4-FFF2-40B4-BE49-F238E27FC236}">
                <a16:creationId xmlns:a16="http://schemas.microsoft.com/office/drawing/2014/main" id="{A8E6D20F-D6BE-4539-AC46-4E7D75742B7B}"/>
              </a:ext>
            </a:extLst>
          </p:cNvPr>
          <p:cNvSpPr/>
          <p:nvPr/>
        </p:nvSpPr>
        <p:spPr>
          <a:xfrm>
            <a:off x="1509098" y="4486378"/>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Number of Lab Procedures</a:t>
            </a:r>
            <a:endParaRPr lang="en-US" sz="2400" dirty="0"/>
          </a:p>
        </p:txBody>
      </p:sp>
      <p:sp>
        <p:nvSpPr>
          <p:cNvPr id="56" name="Shape 57">
            <a:extLst>
              <a:ext uri="{FF2B5EF4-FFF2-40B4-BE49-F238E27FC236}">
                <a16:creationId xmlns:a16="http://schemas.microsoft.com/office/drawing/2014/main" id="{0DC4A85A-B723-447D-BFF8-C0997EDE8790}"/>
              </a:ext>
            </a:extLst>
          </p:cNvPr>
          <p:cNvSpPr/>
          <p:nvPr/>
        </p:nvSpPr>
        <p:spPr>
          <a:xfrm>
            <a:off x="5248656" y="4670040"/>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57" name="Shape 58">
            <a:extLst>
              <a:ext uri="{FF2B5EF4-FFF2-40B4-BE49-F238E27FC236}">
                <a16:creationId xmlns:a16="http://schemas.microsoft.com/office/drawing/2014/main" id="{DAAF9DE5-D6F9-488B-A1AE-FA0B1D782292}"/>
              </a:ext>
            </a:extLst>
          </p:cNvPr>
          <p:cNvSpPr/>
          <p:nvPr/>
        </p:nvSpPr>
        <p:spPr>
          <a:xfrm>
            <a:off x="5248656" y="4670040"/>
            <a:ext cx="905256" cy="329184"/>
          </a:xfrm>
          <a:prstGeom prst="rect">
            <a:avLst/>
          </a:prstGeom>
          <a:solidFill>
            <a:srgbClr val="1B3A6B"/>
          </a:solidFill>
          <a:ln w="12700">
            <a:solidFill>
              <a:srgbClr val="1B3A6B"/>
            </a:solidFill>
            <a:prstDash val="solid"/>
          </a:ln>
        </p:spPr>
        <p:txBody>
          <a:bodyPr/>
          <a:lstStyle/>
          <a:p>
            <a:endParaRPr lang="en-US" sz="2400"/>
          </a:p>
        </p:txBody>
      </p:sp>
      <p:sp>
        <p:nvSpPr>
          <p:cNvPr id="58" name="Text 60">
            <a:extLst>
              <a:ext uri="{FF2B5EF4-FFF2-40B4-BE49-F238E27FC236}">
                <a16:creationId xmlns:a16="http://schemas.microsoft.com/office/drawing/2014/main" id="{0D111407-9EF0-4821-A0CF-B2AB558B7BFE}"/>
              </a:ext>
            </a:extLst>
          </p:cNvPr>
          <p:cNvSpPr/>
          <p:nvPr/>
        </p:nvSpPr>
        <p:spPr>
          <a:xfrm>
            <a:off x="1509098" y="5190466"/>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Number of Procedures</a:t>
            </a:r>
            <a:endParaRPr lang="en-US" sz="2400" dirty="0"/>
          </a:p>
        </p:txBody>
      </p:sp>
      <p:sp>
        <p:nvSpPr>
          <p:cNvPr id="59" name="Shape 61">
            <a:extLst>
              <a:ext uri="{FF2B5EF4-FFF2-40B4-BE49-F238E27FC236}">
                <a16:creationId xmlns:a16="http://schemas.microsoft.com/office/drawing/2014/main" id="{1A083D5E-FC2A-4A8C-BAD2-6FF19187F08F}"/>
              </a:ext>
            </a:extLst>
          </p:cNvPr>
          <p:cNvSpPr/>
          <p:nvPr/>
        </p:nvSpPr>
        <p:spPr>
          <a:xfrm>
            <a:off x="5248656" y="5374128"/>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60" name="Shape 62">
            <a:extLst>
              <a:ext uri="{FF2B5EF4-FFF2-40B4-BE49-F238E27FC236}">
                <a16:creationId xmlns:a16="http://schemas.microsoft.com/office/drawing/2014/main" id="{636FA694-FBD5-489A-ADC2-692F9669B5A1}"/>
              </a:ext>
            </a:extLst>
          </p:cNvPr>
          <p:cNvSpPr/>
          <p:nvPr/>
        </p:nvSpPr>
        <p:spPr>
          <a:xfrm>
            <a:off x="5248656" y="5374128"/>
            <a:ext cx="301752" cy="329184"/>
          </a:xfrm>
          <a:prstGeom prst="rect">
            <a:avLst/>
          </a:prstGeom>
          <a:solidFill>
            <a:srgbClr val="0D7377"/>
          </a:solidFill>
          <a:ln w="12700">
            <a:solidFill>
              <a:srgbClr val="0D7377"/>
            </a:solidFill>
            <a:prstDash val="solid"/>
          </a:ln>
        </p:spPr>
        <p:txBody>
          <a:bodyPr/>
          <a:lstStyle/>
          <a:p>
            <a:endParaRPr lang="en-US" sz="2400"/>
          </a:p>
        </p:txBody>
      </p:sp>
      <p:sp>
        <p:nvSpPr>
          <p:cNvPr id="61" name="Text 64">
            <a:extLst>
              <a:ext uri="{FF2B5EF4-FFF2-40B4-BE49-F238E27FC236}">
                <a16:creationId xmlns:a16="http://schemas.microsoft.com/office/drawing/2014/main" id="{671FECD8-CA79-47E2-BEAC-45CA19823452}"/>
              </a:ext>
            </a:extLst>
          </p:cNvPr>
          <p:cNvSpPr/>
          <p:nvPr/>
        </p:nvSpPr>
        <p:spPr>
          <a:xfrm>
            <a:off x="1509098" y="5894554"/>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Secondary Diagnosis</a:t>
            </a:r>
            <a:endParaRPr lang="en-US" sz="2400" dirty="0"/>
          </a:p>
        </p:txBody>
      </p:sp>
      <p:sp>
        <p:nvSpPr>
          <p:cNvPr id="62" name="Shape 65">
            <a:extLst>
              <a:ext uri="{FF2B5EF4-FFF2-40B4-BE49-F238E27FC236}">
                <a16:creationId xmlns:a16="http://schemas.microsoft.com/office/drawing/2014/main" id="{C4897B72-F1C4-4B54-A18F-36B311EE8F8A}"/>
              </a:ext>
            </a:extLst>
          </p:cNvPr>
          <p:cNvSpPr/>
          <p:nvPr/>
        </p:nvSpPr>
        <p:spPr>
          <a:xfrm>
            <a:off x="5248656" y="6078216"/>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63" name="Shape 66">
            <a:extLst>
              <a:ext uri="{FF2B5EF4-FFF2-40B4-BE49-F238E27FC236}">
                <a16:creationId xmlns:a16="http://schemas.microsoft.com/office/drawing/2014/main" id="{202F2F96-42B0-41EC-8BC7-97BFCAC89ADB}"/>
              </a:ext>
            </a:extLst>
          </p:cNvPr>
          <p:cNvSpPr/>
          <p:nvPr/>
        </p:nvSpPr>
        <p:spPr>
          <a:xfrm>
            <a:off x="5292132" y="6048756"/>
            <a:ext cx="175979" cy="358644"/>
          </a:xfrm>
          <a:prstGeom prst="rect">
            <a:avLst/>
          </a:prstGeom>
          <a:solidFill>
            <a:srgbClr val="1B3A6B"/>
          </a:solidFill>
          <a:ln w="12700">
            <a:solidFill>
              <a:srgbClr val="1B3A6B"/>
            </a:solidFill>
            <a:prstDash val="solid"/>
          </a:ln>
        </p:spPr>
        <p:txBody>
          <a:bodyPr/>
          <a:lstStyle/>
          <a:p>
            <a:endParaRPr lang="en-US" sz="2400"/>
          </a:p>
        </p:txBody>
      </p:sp>
      <p:sp>
        <p:nvSpPr>
          <p:cNvPr id="64" name="Text 68">
            <a:extLst>
              <a:ext uri="{FF2B5EF4-FFF2-40B4-BE49-F238E27FC236}">
                <a16:creationId xmlns:a16="http://schemas.microsoft.com/office/drawing/2014/main" id="{9F3AFD21-A706-4D94-B2DA-4404113B682A}"/>
              </a:ext>
            </a:extLst>
          </p:cNvPr>
          <p:cNvSpPr/>
          <p:nvPr/>
        </p:nvSpPr>
        <p:spPr>
          <a:xfrm>
            <a:off x="1509098" y="6598642"/>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Tertiary Diagnosis</a:t>
            </a:r>
            <a:endParaRPr lang="en-US" sz="2400" dirty="0"/>
          </a:p>
        </p:txBody>
      </p:sp>
      <p:sp>
        <p:nvSpPr>
          <p:cNvPr id="65" name="Shape 69">
            <a:extLst>
              <a:ext uri="{FF2B5EF4-FFF2-40B4-BE49-F238E27FC236}">
                <a16:creationId xmlns:a16="http://schemas.microsoft.com/office/drawing/2014/main" id="{64A92852-D295-40C7-80E6-239F6FA244C8}"/>
              </a:ext>
            </a:extLst>
          </p:cNvPr>
          <p:cNvSpPr/>
          <p:nvPr/>
        </p:nvSpPr>
        <p:spPr>
          <a:xfrm>
            <a:off x="5248656" y="6782304"/>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66" name="Shape 70">
            <a:extLst>
              <a:ext uri="{FF2B5EF4-FFF2-40B4-BE49-F238E27FC236}">
                <a16:creationId xmlns:a16="http://schemas.microsoft.com/office/drawing/2014/main" id="{809C9CD2-8F69-4D8C-8AF0-E459FA0D3C70}"/>
              </a:ext>
            </a:extLst>
          </p:cNvPr>
          <p:cNvSpPr/>
          <p:nvPr/>
        </p:nvSpPr>
        <p:spPr>
          <a:xfrm>
            <a:off x="5286698" y="6752844"/>
            <a:ext cx="153982" cy="358644"/>
          </a:xfrm>
          <a:prstGeom prst="rect">
            <a:avLst/>
          </a:prstGeom>
          <a:solidFill>
            <a:srgbClr val="0D7377"/>
          </a:solidFill>
          <a:ln w="12700">
            <a:solidFill>
              <a:srgbClr val="0D7377"/>
            </a:solidFill>
            <a:prstDash val="solid"/>
          </a:ln>
        </p:spPr>
        <p:txBody>
          <a:bodyPr/>
          <a:lstStyle/>
          <a:p>
            <a:endParaRPr lang="en-US" sz="2400"/>
          </a:p>
        </p:txBody>
      </p:sp>
      <p:sp>
        <p:nvSpPr>
          <p:cNvPr id="67" name="Text 72">
            <a:extLst>
              <a:ext uri="{FF2B5EF4-FFF2-40B4-BE49-F238E27FC236}">
                <a16:creationId xmlns:a16="http://schemas.microsoft.com/office/drawing/2014/main" id="{4B6278A8-DAC7-4939-A72E-0750E4404D00}"/>
              </a:ext>
            </a:extLst>
          </p:cNvPr>
          <p:cNvSpPr/>
          <p:nvPr/>
        </p:nvSpPr>
        <p:spPr>
          <a:xfrm>
            <a:off x="1509098" y="7302730"/>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Max Glucose Serum</a:t>
            </a:r>
            <a:endParaRPr lang="en-US" sz="2400" dirty="0"/>
          </a:p>
        </p:txBody>
      </p:sp>
      <p:sp>
        <p:nvSpPr>
          <p:cNvPr id="68" name="Shape 73">
            <a:extLst>
              <a:ext uri="{FF2B5EF4-FFF2-40B4-BE49-F238E27FC236}">
                <a16:creationId xmlns:a16="http://schemas.microsoft.com/office/drawing/2014/main" id="{6FEB9116-425B-4E85-8C64-4D70828BA215}"/>
              </a:ext>
            </a:extLst>
          </p:cNvPr>
          <p:cNvSpPr/>
          <p:nvPr/>
        </p:nvSpPr>
        <p:spPr>
          <a:xfrm>
            <a:off x="5248656" y="7486392"/>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69" name="Shape 74">
            <a:extLst>
              <a:ext uri="{FF2B5EF4-FFF2-40B4-BE49-F238E27FC236}">
                <a16:creationId xmlns:a16="http://schemas.microsoft.com/office/drawing/2014/main" id="{785CE9CE-E8B8-414F-AFDB-A682D8C32FEF}"/>
              </a:ext>
            </a:extLst>
          </p:cNvPr>
          <p:cNvSpPr/>
          <p:nvPr/>
        </p:nvSpPr>
        <p:spPr>
          <a:xfrm>
            <a:off x="5270394" y="7456932"/>
            <a:ext cx="87990" cy="358644"/>
          </a:xfrm>
          <a:prstGeom prst="rect">
            <a:avLst/>
          </a:prstGeom>
          <a:solidFill>
            <a:srgbClr val="1B3A6B"/>
          </a:solidFill>
          <a:ln w="12700">
            <a:solidFill>
              <a:srgbClr val="1B3A6B"/>
            </a:solidFill>
            <a:prstDash val="solid"/>
          </a:ln>
        </p:spPr>
        <p:txBody>
          <a:bodyPr/>
          <a:lstStyle/>
          <a:p>
            <a:endParaRPr lang="en-US" sz="2400"/>
          </a:p>
        </p:txBody>
      </p:sp>
      <p:sp>
        <p:nvSpPr>
          <p:cNvPr id="70" name="Text 76">
            <a:extLst>
              <a:ext uri="{FF2B5EF4-FFF2-40B4-BE49-F238E27FC236}">
                <a16:creationId xmlns:a16="http://schemas.microsoft.com/office/drawing/2014/main" id="{16EAEE98-6502-4A66-9E41-1201D30B3FAD}"/>
              </a:ext>
            </a:extLst>
          </p:cNvPr>
          <p:cNvSpPr/>
          <p:nvPr/>
        </p:nvSpPr>
        <p:spPr>
          <a:xfrm>
            <a:off x="1509098" y="8006818"/>
            <a:ext cx="3739557" cy="677438"/>
          </a:xfrm>
          <a:prstGeom prst="rect">
            <a:avLst/>
          </a:prstGeom>
          <a:noFill/>
          <a:ln/>
        </p:spPr>
        <p:txBody>
          <a:bodyPr wrap="square" lIns="0" tIns="0" rIns="0" bIns="0" rtlCol="0" anchor="ctr"/>
          <a:lstStyle/>
          <a:p>
            <a:r>
              <a:rPr lang="en-US" sz="2400" dirty="0">
                <a:solidFill>
                  <a:srgbClr val="1E293B"/>
                </a:solidFill>
                <a:ea typeface="Calibri" pitchFamily="34" charset="-122"/>
                <a:cs typeface="Calibri" pitchFamily="34" charset="-120"/>
              </a:rPr>
              <a:t>Age</a:t>
            </a:r>
            <a:endParaRPr lang="en-US" sz="2400" dirty="0"/>
          </a:p>
        </p:txBody>
      </p:sp>
      <p:sp>
        <p:nvSpPr>
          <p:cNvPr id="71" name="Shape 77">
            <a:extLst>
              <a:ext uri="{FF2B5EF4-FFF2-40B4-BE49-F238E27FC236}">
                <a16:creationId xmlns:a16="http://schemas.microsoft.com/office/drawing/2014/main" id="{12E7CF5E-99A8-460B-8F58-5582C0C42B21}"/>
              </a:ext>
            </a:extLst>
          </p:cNvPr>
          <p:cNvSpPr/>
          <p:nvPr/>
        </p:nvSpPr>
        <p:spPr>
          <a:xfrm>
            <a:off x="5248656" y="8190480"/>
            <a:ext cx="2743200" cy="329184"/>
          </a:xfrm>
          <a:prstGeom prst="rect">
            <a:avLst/>
          </a:prstGeom>
          <a:solidFill>
            <a:srgbClr val="CBD5E1"/>
          </a:solidFill>
          <a:ln w="12700">
            <a:solidFill>
              <a:srgbClr val="CBD5E1"/>
            </a:solidFill>
            <a:prstDash val="solid"/>
          </a:ln>
        </p:spPr>
        <p:txBody>
          <a:bodyPr/>
          <a:lstStyle/>
          <a:p>
            <a:endParaRPr lang="en-US" sz="2400"/>
          </a:p>
        </p:txBody>
      </p:sp>
      <p:sp>
        <p:nvSpPr>
          <p:cNvPr id="72" name="Shape 78">
            <a:extLst>
              <a:ext uri="{FF2B5EF4-FFF2-40B4-BE49-F238E27FC236}">
                <a16:creationId xmlns:a16="http://schemas.microsoft.com/office/drawing/2014/main" id="{18E7DEBE-C52E-4B0C-AF38-1FC5456AFEAC}"/>
              </a:ext>
            </a:extLst>
          </p:cNvPr>
          <p:cNvSpPr/>
          <p:nvPr/>
        </p:nvSpPr>
        <p:spPr>
          <a:xfrm>
            <a:off x="5270394" y="8161020"/>
            <a:ext cx="87990" cy="358644"/>
          </a:xfrm>
          <a:prstGeom prst="rect">
            <a:avLst/>
          </a:prstGeom>
          <a:solidFill>
            <a:srgbClr val="0D7377"/>
          </a:solidFill>
          <a:ln w="12700">
            <a:solidFill>
              <a:srgbClr val="0D7377"/>
            </a:solidFill>
            <a:prstDash val="solid"/>
          </a:ln>
        </p:spPr>
        <p:txBody>
          <a:bodyPr/>
          <a:lstStyle/>
          <a:p>
            <a:endParaRPr lang="en-US" sz="2400"/>
          </a:p>
        </p:txBody>
      </p:sp>
      <p:sp>
        <p:nvSpPr>
          <p:cNvPr id="76" name="Text 51">
            <a:extLst>
              <a:ext uri="{FF2B5EF4-FFF2-40B4-BE49-F238E27FC236}">
                <a16:creationId xmlns:a16="http://schemas.microsoft.com/office/drawing/2014/main" id="{4555DB39-9324-4CF6-9DCA-A3D11134757D}"/>
              </a:ext>
            </a:extLst>
          </p:cNvPr>
          <p:cNvSpPr/>
          <p:nvPr/>
        </p:nvSpPr>
        <p:spPr>
          <a:xfrm>
            <a:off x="8083296" y="3133848"/>
            <a:ext cx="1060704" cy="621792"/>
          </a:xfrm>
          <a:prstGeom prst="rect">
            <a:avLst/>
          </a:prstGeom>
          <a:noFill/>
          <a:ln/>
        </p:spPr>
        <p:txBody>
          <a:bodyPr wrap="square" lIns="0" tIns="0" rIns="0" bIns="0" rtlCol="0" anchor="ctr"/>
          <a:lstStyle/>
          <a:p>
            <a:r>
              <a:rPr lang="en-US" sz="2100" dirty="0">
                <a:solidFill>
                  <a:srgbClr val="64748B"/>
                </a:solidFill>
                <a:ea typeface="Calibri" pitchFamily="34" charset="-122"/>
                <a:cs typeface="Calibri" pitchFamily="34" charset="-120"/>
              </a:rPr>
              <a:t>0.1037</a:t>
            </a:r>
            <a:endParaRPr lang="en-US" sz="2100" dirty="0"/>
          </a:p>
        </p:txBody>
      </p:sp>
      <p:sp>
        <p:nvSpPr>
          <p:cNvPr id="77" name="Text 55">
            <a:extLst>
              <a:ext uri="{FF2B5EF4-FFF2-40B4-BE49-F238E27FC236}">
                <a16:creationId xmlns:a16="http://schemas.microsoft.com/office/drawing/2014/main" id="{22FC7BAA-F4B5-43A0-BB40-7D7C072534C4}"/>
              </a:ext>
            </a:extLst>
          </p:cNvPr>
          <p:cNvSpPr/>
          <p:nvPr/>
        </p:nvSpPr>
        <p:spPr>
          <a:xfrm>
            <a:off x="8083296" y="3837936"/>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0.0664</a:t>
            </a:r>
            <a:endParaRPr lang="en-US" sz="2400" dirty="0"/>
          </a:p>
        </p:txBody>
      </p:sp>
      <p:sp>
        <p:nvSpPr>
          <p:cNvPr id="78" name="Text 59">
            <a:extLst>
              <a:ext uri="{FF2B5EF4-FFF2-40B4-BE49-F238E27FC236}">
                <a16:creationId xmlns:a16="http://schemas.microsoft.com/office/drawing/2014/main" id="{8DEE87E5-4AFB-46D5-B18B-F202860EE040}"/>
              </a:ext>
            </a:extLst>
          </p:cNvPr>
          <p:cNvSpPr/>
          <p:nvPr/>
        </p:nvSpPr>
        <p:spPr>
          <a:xfrm>
            <a:off x="8083296" y="4542024"/>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0.0346</a:t>
            </a:r>
            <a:endParaRPr lang="en-US" sz="2400" dirty="0"/>
          </a:p>
        </p:txBody>
      </p:sp>
      <p:sp>
        <p:nvSpPr>
          <p:cNvPr id="79" name="Text 63">
            <a:extLst>
              <a:ext uri="{FF2B5EF4-FFF2-40B4-BE49-F238E27FC236}">
                <a16:creationId xmlns:a16="http://schemas.microsoft.com/office/drawing/2014/main" id="{5A6A41FE-B92B-4390-8B16-553CFBC7FC2C}"/>
              </a:ext>
            </a:extLst>
          </p:cNvPr>
          <p:cNvSpPr/>
          <p:nvPr/>
        </p:nvSpPr>
        <p:spPr>
          <a:xfrm>
            <a:off x="8083296" y="5246112"/>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0.0114</a:t>
            </a:r>
            <a:endParaRPr lang="en-US" sz="2400" dirty="0"/>
          </a:p>
        </p:txBody>
      </p:sp>
      <p:sp>
        <p:nvSpPr>
          <p:cNvPr id="80" name="Text 67">
            <a:extLst>
              <a:ext uri="{FF2B5EF4-FFF2-40B4-BE49-F238E27FC236}">
                <a16:creationId xmlns:a16="http://schemas.microsoft.com/office/drawing/2014/main" id="{25CEA9DC-4865-4713-A20C-C12FC2F0CDE9}"/>
              </a:ext>
            </a:extLst>
          </p:cNvPr>
          <p:cNvSpPr/>
          <p:nvPr/>
        </p:nvSpPr>
        <p:spPr>
          <a:xfrm>
            <a:off x="8083296" y="5950200"/>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0.0080</a:t>
            </a:r>
            <a:endParaRPr lang="en-US" sz="2400" dirty="0"/>
          </a:p>
        </p:txBody>
      </p:sp>
      <p:sp>
        <p:nvSpPr>
          <p:cNvPr id="81" name="Text 71">
            <a:extLst>
              <a:ext uri="{FF2B5EF4-FFF2-40B4-BE49-F238E27FC236}">
                <a16:creationId xmlns:a16="http://schemas.microsoft.com/office/drawing/2014/main" id="{765B2BEC-D196-4ECB-90C7-B8FA9EB9BDBF}"/>
              </a:ext>
            </a:extLst>
          </p:cNvPr>
          <p:cNvSpPr/>
          <p:nvPr/>
        </p:nvSpPr>
        <p:spPr>
          <a:xfrm>
            <a:off x="8083296" y="6654288"/>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0.0071</a:t>
            </a:r>
            <a:endParaRPr lang="en-US" sz="2400" dirty="0"/>
          </a:p>
        </p:txBody>
      </p:sp>
      <p:sp>
        <p:nvSpPr>
          <p:cNvPr id="82" name="Text 75">
            <a:extLst>
              <a:ext uri="{FF2B5EF4-FFF2-40B4-BE49-F238E27FC236}">
                <a16:creationId xmlns:a16="http://schemas.microsoft.com/office/drawing/2014/main" id="{CEF03445-95DE-4A60-82E4-757944A111E7}"/>
              </a:ext>
            </a:extLst>
          </p:cNvPr>
          <p:cNvSpPr/>
          <p:nvPr/>
        </p:nvSpPr>
        <p:spPr>
          <a:xfrm>
            <a:off x="8083296" y="7358376"/>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0.0045</a:t>
            </a:r>
            <a:endParaRPr lang="en-US" sz="2400" dirty="0"/>
          </a:p>
        </p:txBody>
      </p:sp>
      <p:sp>
        <p:nvSpPr>
          <p:cNvPr id="83" name="Text 79">
            <a:extLst>
              <a:ext uri="{FF2B5EF4-FFF2-40B4-BE49-F238E27FC236}">
                <a16:creationId xmlns:a16="http://schemas.microsoft.com/office/drawing/2014/main" id="{577BA3EF-560A-456A-BD46-D0461359B169}"/>
              </a:ext>
            </a:extLst>
          </p:cNvPr>
          <p:cNvSpPr/>
          <p:nvPr/>
        </p:nvSpPr>
        <p:spPr>
          <a:xfrm>
            <a:off x="8083296" y="8062464"/>
            <a:ext cx="1060704" cy="621792"/>
          </a:xfrm>
          <a:prstGeom prst="rect">
            <a:avLst/>
          </a:prstGeom>
          <a:noFill/>
          <a:ln/>
        </p:spPr>
        <p:txBody>
          <a:bodyPr wrap="square" lIns="0" tIns="0" rIns="0" bIns="0" rtlCol="0" anchor="ctr"/>
          <a:lstStyle/>
          <a:p>
            <a:r>
              <a:rPr lang="en-US" sz="2400" dirty="0">
                <a:solidFill>
                  <a:srgbClr val="64748B"/>
                </a:solidFill>
                <a:ea typeface="Calibri" pitchFamily="34" charset="-122"/>
                <a:cs typeface="Calibri" pitchFamily="34" charset="-120"/>
              </a:rPr>
              <a:t>0.0039</a:t>
            </a:r>
            <a:endParaRPr lang="en-US" sz="2400" dirty="0"/>
          </a:p>
        </p:txBody>
      </p:sp>
      <p:sp>
        <p:nvSpPr>
          <p:cNvPr id="41" name="Text 37">
            <a:extLst>
              <a:ext uri="{FF2B5EF4-FFF2-40B4-BE49-F238E27FC236}">
                <a16:creationId xmlns:a16="http://schemas.microsoft.com/office/drawing/2014/main" id="{9FC89A4E-6431-40A2-A11E-1BC1ED2837AC}"/>
              </a:ext>
            </a:extLst>
          </p:cNvPr>
          <p:cNvSpPr/>
          <p:nvPr/>
        </p:nvSpPr>
        <p:spPr>
          <a:xfrm>
            <a:off x="10264310" y="4486378"/>
            <a:ext cx="7242048" cy="2294583"/>
          </a:xfrm>
          <a:prstGeom prst="rect">
            <a:avLst/>
          </a:prstGeom>
          <a:noFill/>
          <a:ln/>
        </p:spPr>
        <p:txBody>
          <a:bodyPr wrap="square" lIns="0" tIns="0" rIns="0" bIns="0" rtlCol="0" anchor="ctr"/>
          <a:lstStyle/>
          <a:p>
            <a:pPr marL="457200" indent="-457200">
              <a:lnSpc>
                <a:spcPct val="250000"/>
              </a:lnSpc>
              <a:buFont typeface="Arial" panose="020B0604020202020204" pitchFamily="34" charset="0"/>
              <a:buChar char="•"/>
            </a:pPr>
            <a:r>
              <a:rPr lang="en-US" sz="2800" dirty="0">
                <a:solidFill>
                  <a:schemeClr val="accent4"/>
                </a:solidFill>
                <a:ea typeface="Calibri" pitchFamily="34" charset="-122"/>
                <a:cs typeface="Calibri" pitchFamily="34" charset="-120"/>
              </a:rPr>
              <a:t>Largest impact: 0.1037 AUC drop</a:t>
            </a:r>
          </a:p>
          <a:p>
            <a:pPr marL="457200" indent="-457200">
              <a:lnSpc>
                <a:spcPct val="250000"/>
              </a:lnSpc>
              <a:buFont typeface="Arial" panose="020B0604020202020204" pitchFamily="34" charset="0"/>
              <a:buChar char="•"/>
            </a:pPr>
            <a:r>
              <a:rPr lang="en-US" sz="2800" dirty="0">
                <a:solidFill>
                  <a:schemeClr val="accent4"/>
                </a:solidFill>
                <a:ea typeface="Calibri" pitchFamily="34" charset="-122"/>
                <a:cs typeface="Calibri" pitchFamily="34" charset="-120"/>
              </a:rPr>
              <a:t>Stronger than diagnosis and demographics</a:t>
            </a:r>
          </a:p>
          <a:p>
            <a:pPr marL="457200" indent="-457200">
              <a:lnSpc>
                <a:spcPct val="250000"/>
              </a:lnSpc>
              <a:buFont typeface="Arial" panose="020B0604020202020204" pitchFamily="34" charset="0"/>
              <a:buChar char="•"/>
            </a:pPr>
            <a:r>
              <a:rPr lang="en-US" sz="2800" dirty="0">
                <a:solidFill>
                  <a:schemeClr val="accent4"/>
                </a:solidFill>
                <a:ea typeface="Calibri" pitchFamily="34" charset="-122"/>
                <a:cs typeface="Calibri" pitchFamily="34" charset="-120"/>
              </a:rPr>
              <a:t>Reflects treatment intensity at admission</a:t>
            </a:r>
          </a:p>
          <a:p>
            <a:endParaRPr lang="en-US" sz="2800" dirty="0">
              <a:solidFill>
                <a:srgbClr val="64748B"/>
              </a:solidFill>
              <a:ea typeface="Calibri" pitchFamily="34" charset="-122"/>
              <a:cs typeface="Calibri" pitchFamily="34" charset="-120"/>
            </a:endParaRPr>
          </a:p>
          <a:p>
            <a:r>
              <a:rPr lang="en-US" sz="3200" dirty="0">
                <a:solidFill>
                  <a:schemeClr val="bg2"/>
                </a:solidFill>
              </a:rPr>
              <a:t>👉 </a:t>
            </a:r>
            <a:r>
              <a:rPr lang="en-US" sz="3200" b="1" dirty="0">
                <a:solidFill>
                  <a:schemeClr val="bg2"/>
                </a:solidFill>
              </a:rPr>
              <a:t>Clinical factors drive LOS more than demographic characteristics</a:t>
            </a:r>
            <a:endParaRPr lang="en-US" sz="3200" dirty="0">
              <a:solidFill>
                <a:schemeClr val="bg2"/>
              </a:solidFill>
              <a:ea typeface="Calibri" pitchFamily="34" charset="-122"/>
              <a:cs typeface="Calibri" pitchFamily="34" charset="-120"/>
            </a:endParaRPr>
          </a:p>
        </p:txBody>
      </p:sp>
    </p:spTree>
    <p:extLst>
      <p:ext uri="{BB962C8B-B14F-4D97-AF65-F5344CB8AC3E}">
        <p14:creationId xmlns:p14="http://schemas.microsoft.com/office/powerpoint/2010/main" val="192591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ED5B-DA8E-8944-B888-C0281DC03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12FD9-37CB-4F8D-A6AB-3B46FF8C3877}"/>
              </a:ext>
            </a:extLst>
          </p:cNvPr>
          <p:cNvSpPr>
            <a:spLocks noGrp="1"/>
          </p:cNvSpPr>
          <p:nvPr>
            <p:ph type="title"/>
          </p:nvPr>
        </p:nvSpPr>
        <p:spPr>
          <a:xfrm>
            <a:off x="1252432" y="526613"/>
            <a:ext cx="15773400" cy="775596"/>
          </a:xfrm>
        </p:spPr>
        <p:txBody>
          <a:bodyPr/>
          <a:lstStyle/>
          <a:p>
            <a:r>
              <a:rPr lang="en-US" dirty="0"/>
              <a:t>Key Results</a:t>
            </a:r>
          </a:p>
        </p:txBody>
      </p:sp>
      <p:sp>
        <p:nvSpPr>
          <p:cNvPr id="4" name="Text Placeholder 3">
            <a:extLst>
              <a:ext uri="{FF2B5EF4-FFF2-40B4-BE49-F238E27FC236}">
                <a16:creationId xmlns:a16="http://schemas.microsoft.com/office/drawing/2014/main" id="{E9BB4A75-CFA0-92E0-92AC-A69B7CBE25EE}"/>
              </a:ext>
            </a:extLst>
          </p:cNvPr>
          <p:cNvSpPr>
            <a:spLocks noGrp="1"/>
          </p:cNvSpPr>
          <p:nvPr>
            <p:ph type="body" sz="quarter" idx="10"/>
          </p:nvPr>
        </p:nvSpPr>
        <p:spPr>
          <a:xfrm>
            <a:off x="1257300" y="1378409"/>
            <a:ext cx="15773400" cy="549382"/>
          </a:xfrm>
        </p:spPr>
        <p:txBody>
          <a:bodyPr/>
          <a:lstStyle/>
          <a:p>
            <a:r>
              <a:rPr lang="en-US" b="1" dirty="0">
                <a:solidFill>
                  <a:schemeClr val="accent1"/>
                </a:solidFill>
                <a:ea typeface="Calibri" pitchFamily="34" charset="-122"/>
                <a:cs typeface="Calibri" pitchFamily="34" charset="-120"/>
              </a:rPr>
              <a:t>WHAT-IF SCENARIO</a:t>
            </a:r>
            <a:endParaRPr lang="en-US" dirty="0">
              <a:solidFill>
                <a:schemeClr val="accent1"/>
              </a:solidFill>
            </a:endParaRPr>
          </a:p>
          <a:p>
            <a:endParaRPr lang="en-US" dirty="0">
              <a:solidFill>
                <a:srgbClr val="002060"/>
              </a:solidFill>
            </a:endParaRPr>
          </a:p>
        </p:txBody>
      </p:sp>
      <p:sp>
        <p:nvSpPr>
          <p:cNvPr id="5" name="Text 3">
            <a:extLst>
              <a:ext uri="{FF2B5EF4-FFF2-40B4-BE49-F238E27FC236}">
                <a16:creationId xmlns:a16="http://schemas.microsoft.com/office/drawing/2014/main" id="{AA031612-AC8B-DBA7-3891-ABF3E2A526B3}"/>
              </a:ext>
            </a:extLst>
          </p:cNvPr>
          <p:cNvSpPr/>
          <p:nvPr/>
        </p:nvSpPr>
        <p:spPr>
          <a:xfrm>
            <a:off x="768096" y="841248"/>
            <a:ext cx="15544800" cy="1060704"/>
          </a:xfrm>
          <a:prstGeom prst="rect">
            <a:avLst/>
          </a:prstGeom>
          <a:noFill/>
          <a:ln/>
        </p:spPr>
        <p:txBody>
          <a:bodyPr wrap="square" lIns="0" tIns="0" rIns="0" bIns="0" rtlCol="0" anchor="ctr"/>
          <a:lstStyle/>
          <a:p>
            <a:endParaRPr lang="en-US" sz="4000" dirty="0"/>
          </a:p>
        </p:txBody>
      </p:sp>
      <p:pic>
        <p:nvPicPr>
          <p:cNvPr id="6" name="Picture 5">
            <a:extLst>
              <a:ext uri="{FF2B5EF4-FFF2-40B4-BE49-F238E27FC236}">
                <a16:creationId xmlns:a16="http://schemas.microsoft.com/office/drawing/2014/main" id="{4AF3EE51-DB48-2BCB-C203-01F3977AC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560" y="2003991"/>
            <a:ext cx="14589872" cy="8067343"/>
          </a:xfrm>
          <a:prstGeom prst="rect">
            <a:avLst/>
          </a:prstGeom>
        </p:spPr>
      </p:pic>
      <p:pic>
        <p:nvPicPr>
          <p:cNvPr id="95" name="Picture 94">
            <a:extLst>
              <a:ext uri="{FF2B5EF4-FFF2-40B4-BE49-F238E27FC236}">
                <a16:creationId xmlns:a16="http://schemas.microsoft.com/office/drawing/2014/main" id="{9EEA0525-881C-8587-B9D3-B0D38E7DEF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1919" y="2029830"/>
            <a:ext cx="14423513" cy="7841448"/>
          </a:xfrm>
          <a:prstGeom prst="rect">
            <a:avLst/>
          </a:prstGeom>
        </p:spPr>
      </p:pic>
    </p:spTree>
    <p:extLst>
      <p:ext uri="{BB962C8B-B14F-4D97-AF65-F5344CB8AC3E}">
        <p14:creationId xmlns:p14="http://schemas.microsoft.com/office/powerpoint/2010/main" val="3394591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ipe(down)">
                                      <p:cBhvr>
                                        <p:cTn id="7"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9">
            <a:extLst>
              <a:ext uri="{FF2B5EF4-FFF2-40B4-BE49-F238E27FC236}">
                <a16:creationId xmlns:a16="http://schemas.microsoft.com/office/drawing/2014/main" id="{55594CF0-FDED-5AEF-5DB9-777A8AE530D2}"/>
              </a:ext>
            </a:extLst>
          </p:cNvPr>
          <p:cNvSpPr/>
          <p:nvPr/>
        </p:nvSpPr>
        <p:spPr>
          <a:xfrm>
            <a:off x="512064" y="1682496"/>
            <a:ext cx="8412480" cy="1243584"/>
          </a:xfrm>
          <a:prstGeom prst="rect">
            <a:avLst/>
          </a:prstGeom>
          <a:solidFill>
            <a:srgbClr val="1B3A6B"/>
          </a:solidFill>
          <a:ln w="12700">
            <a:solidFill>
              <a:srgbClr val="1B3A6B"/>
            </a:solidFill>
            <a:prstDash val="solid"/>
          </a:ln>
        </p:spPr>
        <p:txBody>
          <a:bodyPr/>
          <a:lstStyle/>
          <a:p>
            <a:endParaRPr lang="en-US" sz="2600" dirty="0"/>
          </a:p>
        </p:txBody>
      </p:sp>
      <p:sp>
        <p:nvSpPr>
          <p:cNvPr id="6" name="Text 10">
            <a:extLst>
              <a:ext uri="{FF2B5EF4-FFF2-40B4-BE49-F238E27FC236}">
                <a16:creationId xmlns:a16="http://schemas.microsoft.com/office/drawing/2014/main" id="{95149709-00F1-F586-E337-A36CADA9470B}"/>
              </a:ext>
            </a:extLst>
          </p:cNvPr>
          <p:cNvSpPr/>
          <p:nvPr/>
        </p:nvSpPr>
        <p:spPr>
          <a:xfrm>
            <a:off x="731520" y="1946559"/>
            <a:ext cx="7973568" cy="658368"/>
          </a:xfrm>
          <a:prstGeom prst="rect">
            <a:avLst/>
          </a:prstGeom>
          <a:noFill/>
          <a:ln/>
        </p:spPr>
        <p:txBody>
          <a:bodyPr wrap="square" lIns="0" tIns="0" rIns="0" bIns="0" rtlCol="0" anchor="ctr"/>
          <a:lstStyle/>
          <a:p>
            <a:endParaRPr lang="en-US" sz="2800" b="1" dirty="0">
              <a:solidFill>
                <a:srgbClr val="FFFFFF"/>
              </a:solidFill>
              <a:latin typeface="Calibri" pitchFamily="34" charset="0"/>
              <a:ea typeface="Calibri" pitchFamily="34" charset="-122"/>
              <a:cs typeface="Calibri" pitchFamily="34" charset="-120"/>
            </a:endParaRPr>
          </a:p>
          <a:p>
            <a:pPr algn="ctr"/>
            <a:r>
              <a:rPr lang="en-US" sz="3400" b="1" dirty="0">
                <a:solidFill>
                  <a:srgbClr val="FFFFFF"/>
                </a:solidFill>
                <a:latin typeface="Calibri" pitchFamily="34" charset="0"/>
                <a:ea typeface="Calibri" pitchFamily="34" charset="-122"/>
                <a:cs typeface="Calibri" pitchFamily="34" charset="-120"/>
              </a:rPr>
              <a:t>01  —  Medication Burden is the Strongest LOS Signal</a:t>
            </a:r>
            <a:endParaRPr lang="en-US" sz="3400" dirty="0"/>
          </a:p>
          <a:p>
            <a:endParaRPr lang="en-US" sz="2800" dirty="0"/>
          </a:p>
        </p:txBody>
      </p:sp>
      <p:sp>
        <p:nvSpPr>
          <p:cNvPr id="12" name="Shape 17">
            <a:extLst>
              <a:ext uri="{FF2B5EF4-FFF2-40B4-BE49-F238E27FC236}">
                <a16:creationId xmlns:a16="http://schemas.microsoft.com/office/drawing/2014/main" id="{010861F8-CAEF-BC38-017B-3C7733248667}"/>
              </a:ext>
            </a:extLst>
          </p:cNvPr>
          <p:cNvSpPr/>
          <p:nvPr/>
        </p:nvSpPr>
        <p:spPr>
          <a:xfrm>
            <a:off x="9363458" y="1653562"/>
            <a:ext cx="8412480" cy="1272517"/>
          </a:xfrm>
          <a:prstGeom prst="rect">
            <a:avLst/>
          </a:prstGeom>
          <a:solidFill>
            <a:srgbClr val="14A09A"/>
          </a:solidFill>
          <a:ln w="12700">
            <a:solidFill>
              <a:srgbClr val="14A09A"/>
            </a:solidFill>
            <a:prstDash val="solid"/>
          </a:ln>
        </p:spPr>
        <p:txBody>
          <a:bodyPr/>
          <a:lstStyle/>
          <a:p>
            <a:endParaRPr lang="en-US" sz="2400"/>
          </a:p>
        </p:txBody>
      </p:sp>
      <p:sp>
        <p:nvSpPr>
          <p:cNvPr id="13" name="Text 18">
            <a:extLst>
              <a:ext uri="{FF2B5EF4-FFF2-40B4-BE49-F238E27FC236}">
                <a16:creationId xmlns:a16="http://schemas.microsoft.com/office/drawing/2014/main" id="{4373AA5A-666D-02FA-19B6-1CDA92F15BF8}"/>
              </a:ext>
            </a:extLst>
          </p:cNvPr>
          <p:cNvSpPr/>
          <p:nvPr/>
        </p:nvSpPr>
        <p:spPr>
          <a:xfrm>
            <a:off x="9582912" y="1946559"/>
            <a:ext cx="7973568" cy="658368"/>
          </a:xfrm>
          <a:prstGeom prst="rect">
            <a:avLst/>
          </a:prstGeom>
          <a:noFill/>
          <a:ln/>
        </p:spPr>
        <p:txBody>
          <a:bodyPr wrap="square" lIns="0" tIns="0" rIns="0" bIns="0" rtlCol="0" anchor="ctr"/>
          <a:lstStyle/>
          <a:p>
            <a:pPr algn="ctr"/>
            <a:r>
              <a:rPr lang="en-US" sz="3400" b="1" dirty="0">
                <a:solidFill>
                  <a:srgbClr val="FFFFFF"/>
                </a:solidFill>
                <a:latin typeface="Calibri" pitchFamily="34" charset="0"/>
                <a:ea typeface="Calibri" pitchFamily="34" charset="-122"/>
                <a:cs typeface="Calibri" pitchFamily="34" charset="-120"/>
              </a:rPr>
              <a:t>02  —  Clinical Complexity Drives Unpredictability</a:t>
            </a:r>
            <a:endParaRPr lang="en-US" sz="3400" dirty="0"/>
          </a:p>
        </p:txBody>
      </p:sp>
      <p:pic>
        <p:nvPicPr>
          <p:cNvPr id="16" name="Picture 15">
            <a:extLst>
              <a:ext uri="{FF2B5EF4-FFF2-40B4-BE49-F238E27FC236}">
                <a16:creationId xmlns:a16="http://schemas.microsoft.com/office/drawing/2014/main" id="{87F6532B-0645-EDB2-E5AD-1C7B4745234A}"/>
              </a:ext>
            </a:extLst>
          </p:cNvPr>
          <p:cNvPicPr>
            <a:picLocks noChangeAspect="1"/>
          </p:cNvPicPr>
          <p:nvPr/>
        </p:nvPicPr>
        <p:blipFill>
          <a:blip r:embed="rId3"/>
          <a:stretch>
            <a:fillRect/>
          </a:stretch>
        </p:blipFill>
        <p:spPr>
          <a:xfrm>
            <a:off x="513379" y="2926079"/>
            <a:ext cx="8141417" cy="6460163"/>
          </a:xfrm>
          <a:prstGeom prst="rect">
            <a:avLst/>
          </a:prstGeom>
        </p:spPr>
      </p:pic>
      <p:pic>
        <p:nvPicPr>
          <p:cNvPr id="20" name="Picture 19">
            <a:extLst>
              <a:ext uri="{FF2B5EF4-FFF2-40B4-BE49-F238E27FC236}">
                <a16:creationId xmlns:a16="http://schemas.microsoft.com/office/drawing/2014/main" id="{E73D9BF8-77D9-9F54-7CBE-447C13EE4D00}"/>
              </a:ext>
            </a:extLst>
          </p:cNvPr>
          <p:cNvPicPr>
            <a:picLocks noChangeAspect="1"/>
          </p:cNvPicPr>
          <p:nvPr/>
        </p:nvPicPr>
        <p:blipFill>
          <a:blip r:embed="rId4"/>
          <a:stretch>
            <a:fillRect/>
          </a:stretch>
        </p:blipFill>
        <p:spPr>
          <a:xfrm>
            <a:off x="9305069" y="2926079"/>
            <a:ext cx="8529254" cy="6460163"/>
          </a:xfrm>
          <a:prstGeom prst="rect">
            <a:avLst/>
          </a:prstGeom>
        </p:spPr>
      </p:pic>
      <p:sp>
        <p:nvSpPr>
          <p:cNvPr id="22" name="Title 1">
            <a:extLst>
              <a:ext uri="{FF2B5EF4-FFF2-40B4-BE49-F238E27FC236}">
                <a16:creationId xmlns:a16="http://schemas.microsoft.com/office/drawing/2014/main" id="{AACC5E0B-FC71-A2D0-59DC-EFAFE7B87794}"/>
              </a:ext>
            </a:extLst>
          </p:cNvPr>
          <p:cNvSpPr>
            <a:spLocks noGrp="1"/>
          </p:cNvSpPr>
          <p:nvPr>
            <p:ph type="title"/>
          </p:nvPr>
        </p:nvSpPr>
        <p:spPr>
          <a:xfrm>
            <a:off x="768096" y="643950"/>
            <a:ext cx="15773400" cy="775596"/>
          </a:xfrm>
        </p:spPr>
        <p:txBody>
          <a:bodyPr/>
          <a:lstStyle/>
          <a:p>
            <a:r>
              <a:rPr lang="en-US" dirty="0"/>
              <a:t>Insights &amp; Conclusions</a:t>
            </a:r>
          </a:p>
        </p:txBody>
      </p:sp>
    </p:spTree>
    <p:extLst>
      <p:ext uri="{BB962C8B-B14F-4D97-AF65-F5344CB8AC3E}">
        <p14:creationId xmlns:p14="http://schemas.microsoft.com/office/powerpoint/2010/main" val="262196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DA6B6-32E6-77B6-1893-311F6DFF4F6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9E9BF85-DEA2-4B77-8EEF-C90837FDCBA4}"/>
              </a:ext>
            </a:extLst>
          </p:cNvPr>
          <p:cNvGrpSpPr/>
          <p:nvPr/>
        </p:nvGrpSpPr>
        <p:grpSpPr>
          <a:xfrm>
            <a:off x="3508096" y="1784970"/>
            <a:ext cx="11271808" cy="962978"/>
            <a:chOff x="4089057" y="1938528"/>
            <a:chExt cx="8552523" cy="804672"/>
          </a:xfrm>
        </p:grpSpPr>
        <p:sp>
          <p:nvSpPr>
            <p:cNvPr id="5" name="Shape 9">
              <a:extLst>
                <a:ext uri="{FF2B5EF4-FFF2-40B4-BE49-F238E27FC236}">
                  <a16:creationId xmlns:a16="http://schemas.microsoft.com/office/drawing/2014/main" id="{D6FAC4F2-026C-5A25-8FB1-0A848B095739}"/>
                </a:ext>
              </a:extLst>
            </p:cNvPr>
            <p:cNvSpPr/>
            <p:nvPr/>
          </p:nvSpPr>
          <p:spPr>
            <a:xfrm>
              <a:off x="4089057" y="1938528"/>
              <a:ext cx="8412480" cy="804672"/>
            </a:xfrm>
            <a:prstGeom prst="rect">
              <a:avLst/>
            </a:prstGeom>
            <a:solidFill>
              <a:srgbClr val="1B3A6B"/>
            </a:solidFill>
            <a:ln w="12700">
              <a:solidFill>
                <a:srgbClr val="1B3A6B"/>
              </a:solidFill>
              <a:prstDash val="solid"/>
            </a:ln>
          </p:spPr>
          <p:txBody>
            <a:bodyPr/>
            <a:lstStyle/>
            <a:p>
              <a:endParaRPr lang="en-US" sz="2600" dirty="0"/>
            </a:p>
          </p:txBody>
        </p:sp>
        <p:sp>
          <p:nvSpPr>
            <p:cNvPr id="6" name="Text 10">
              <a:extLst>
                <a:ext uri="{FF2B5EF4-FFF2-40B4-BE49-F238E27FC236}">
                  <a16:creationId xmlns:a16="http://schemas.microsoft.com/office/drawing/2014/main" id="{4487AFC1-95B9-3A5F-403F-547FC3FFBCA5}"/>
                </a:ext>
              </a:extLst>
            </p:cNvPr>
            <p:cNvSpPr/>
            <p:nvPr/>
          </p:nvSpPr>
          <p:spPr>
            <a:xfrm>
              <a:off x="4668012" y="2011680"/>
              <a:ext cx="7973568" cy="658368"/>
            </a:xfrm>
            <a:prstGeom prst="rect">
              <a:avLst/>
            </a:prstGeom>
            <a:noFill/>
            <a:ln/>
          </p:spPr>
          <p:txBody>
            <a:bodyPr wrap="square" lIns="0" tIns="0" rIns="0" bIns="0" rtlCol="0" anchor="ctr"/>
            <a:lstStyle/>
            <a:p>
              <a:r>
                <a:rPr lang="en-US" sz="3400" b="1" dirty="0">
                  <a:solidFill>
                    <a:srgbClr val="FFFFFF"/>
                  </a:solidFill>
                  <a:latin typeface="Calibri" pitchFamily="34" charset="0"/>
                  <a:ea typeface="Calibri" pitchFamily="34" charset="-122"/>
                  <a:cs typeface="Calibri" pitchFamily="34" charset="-120"/>
                </a:rPr>
                <a:t>03  —  Early Discharge is Moderately Predictable</a:t>
              </a:r>
              <a:endParaRPr lang="en-US" sz="3400" dirty="0"/>
            </a:p>
          </p:txBody>
        </p:sp>
      </p:grpSp>
      <p:sp>
        <p:nvSpPr>
          <p:cNvPr id="22" name="Title 1">
            <a:extLst>
              <a:ext uri="{FF2B5EF4-FFF2-40B4-BE49-F238E27FC236}">
                <a16:creationId xmlns:a16="http://schemas.microsoft.com/office/drawing/2014/main" id="{4F7FD0D2-65C8-D8B8-CEA0-074C81967683}"/>
              </a:ext>
            </a:extLst>
          </p:cNvPr>
          <p:cNvSpPr>
            <a:spLocks noGrp="1"/>
          </p:cNvSpPr>
          <p:nvPr>
            <p:ph type="title"/>
          </p:nvPr>
        </p:nvSpPr>
        <p:spPr>
          <a:xfrm>
            <a:off x="768096" y="643950"/>
            <a:ext cx="15773400" cy="775596"/>
          </a:xfrm>
        </p:spPr>
        <p:txBody>
          <a:bodyPr/>
          <a:lstStyle/>
          <a:p>
            <a:r>
              <a:rPr lang="en-US" dirty="0"/>
              <a:t>Insights &amp; Conclusions</a:t>
            </a:r>
          </a:p>
        </p:txBody>
      </p:sp>
      <p:pic>
        <p:nvPicPr>
          <p:cNvPr id="3" name="Picture 2">
            <a:extLst>
              <a:ext uri="{FF2B5EF4-FFF2-40B4-BE49-F238E27FC236}">
                <a16:creationId xmlns:a16="http://schemas.microsoft.com/office/drawing/2014/main" id="{9D639949-F64B-EF6A-42EE-53F6EC17D8B5}"/>
              </a:ext>
            </a:extLst>
          </p:cNvPr>
          <p:cNvPicPr>
            <a:picLocks noChangeAspect="1"/>
          </p:cNvPicPr>
          <p:nvPr/>
        </p:nvPicPr>
        <p:blipFill>
          <a:blip r:embed="rId3"/>
          <a:stretch>
            <a:fillRect/>
          </a:stretch>
        </p:blipFill>
        <p:spPr>
          <a:xfrm>
            <a:off x="1133856" y="3183594"/>
            <a:ext cx="6987814" cy="6238753"/>
          </a:xfrm>
          <a:prstGeom prst="rect">
            <a:avLst/>
          </a:prstGeom>
        </p:spPr>
      </p:pic>
      <p:pic>
        <p:nvPicPr>
          <p:cNvPr id="7" name="Picture 6">
            <a:extLst>
              <a:ext uri="{FF2B5EF4-FFF2-40B4-BE49-F238E27FC236}">
                <a16:creationId xmlns:a16="http://schemas.microsoft.com/office/drawing/2014/main" id="{D6CDE068-D1AD-6072-64F3-57F1B58FADBF}"/>
              </a:ext>
            </a:extLst>
          </p:cNvPr>
          <p:cNvPicPr>
            <a:picLocks noChangeAspect="1"/>
          </p:cNvPicPr>
          <p:nvPr/>
        </p:nvPicPr>
        <p:blipFill>
          <a:blip r:embed="rId4"/>
          <a:stretch>
            <a:fillRect/>
          </a:stretch>
        </p:blipFill>
        <p:spPr>
          <a:xfrm>
            <a:off x="9144000" y="3113371"/>
            <a:ext cx="6987814" cy="6379198"/>
          </a:xfrm>
          <a:prstGeom prst="rect">
            <a:avLst/>
          </a:prstGeom>
        </p:spPr>
      </p:pic>
    </p:spTree>
    <p:extLst>
      <p:ext uri="{BB962C8B-B14F-4D97-AF65-F5344CB8AC3E}">
        <p14:creationId xmlns:p14="http://schemas.microsoft.com/office/powerpoint/2010/main" val="33367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673C0-A88A-BFE7-492F-E36634AF46B3}"/>
            </a:ext>
          </a:extLst>
        </p:cNvPr>
        <p:cNvGrpSpPr/>
        <p:nvPr/>
      </p:nvGrpSpPr>
      <p:grpSpPr>
        <a:xfrm>
          <a:off x="0" y="0"/>
          <a:ext cx="0" cy="0"/>
          <a:chOff x="0" y="0"/>
          <a:chExt cx="0" cy="0"/>
        </a:xfrm>
      </p:grpSpPr>
      <p:sp>
        <p:nvSpPr>
          <p:cNvPr id="22" name="Title 1">
            <a:extLst>
              <a:ext uri="{FF2B5EF4-FFF2-40B4-BE49-F238E27FC236}">
                <a16:creationId xmlns:a16="http://schemas.microsoft.com/office/drawing/2014/main" id="{8EC9532F-03E6-5223-9AE3-115E2EA599F8}"/>
              </a:ext>
            </a:extLst>
          </p:cNvPr>
          <p:cNvSpPr>
            <a:spLocks noGrp="1"/>
          </p:cNvSpPr>
          <p:nvPr>
            <p:ph type="title"/>
          </p:nvPr>
        </p:nvSpPr>
        <p:spPr>
          <a:xfrm>
            <a:off x="768096" y="643950"/>
            <a:ext cx="15773400" cy="775596"/>
          </a:xfrm>
        </p:spPr>
        <p:txBody>
          <a:bodyPr/>
          <a:lstStyle/>
          <a:p>
            <a:r>
              <a:rPr lang="en-US" dirty="0"/>
              <a:t>Insights &amp; Conclusions</a:t>
            </a:r>
          </a:p>
        </p:txBody>
      </p:sp>
      <p:sp>
        <p:nvSpPr>
          <p:cNvPr id="8" name="Shape 17">
            <a:extLst>
              <a:ext uri="{FF2B5EF4-FFF2-40B4-BE49-F238E27FC236}">
                <a16:creationId xmlns:a16="http://schemas.microsoft.com/office/drawing/2014/main" id="{7313794E-B071-40DE-4387-ADE424A6809F}"/>
              </a:ext>
            </a:extLst>
          </p:cNvPr>
          <p:cNvSpPr/>
          <p:nvPr/>
        </p:nvSpPr>
        <p:spPr>
          <a:xfrm>
            <a:off x="3689323" y="1659164"/>
            <a:ext cx="10909351" cy="1084036"/>
          </a:xfrm>
          <a:prstGeom prst="rect">
            <a:avLst/>
          </a:prstGeom>
          <a:solidFill>
            <a:srgbClr val="14A09A"/>
          </a:solidFill>
          <a:ln w="12700">
            <a:solidFill>
              <a:srgbClr val="14A09A"/>
            </a:solidFill>
            <a:prstDash val="solid"/>
          </a:ln>
        </p:spPr>
        <p:txBody>
          <a:bodyPr anchor="ctr"/>
          <a:lstStyle/>
          <a:p>
            <a:pPr algn="ctr"/>
            <a:r>
              <a:rPr lang="en-US" sz="3400" b="1" dirty="0">
                <a:solidFill>
                  <a:srgbClr val="FFFFFF"/>
                </a:solidFill>
                <a:latin typeface="Calibri" pitchFamily="34" charset="0"/>
                <a:ea typeface="Calibri" pitchFamily="34" charset="-122"/>
                <a:cs typeface="Calibri" pitchFamily="34" charset="-120"/>
              </a:rPr>
              <a:t>04  —  Small Operational Shifts Have Measurable Impact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5B129CEF-F7B0-DFAE-548D-1EC3E774EEEB}"/>
              </a:ext>
            </a:extLst>
          </p:cNvPr>
          <p:cNvPicPr>
            <a:picLocks noChangeAspect="1"/>
          </p:cNvPicPr>
          <p:nvPr/>
        </p:nvPicPr>
        <p:blipFill>
          <a:blip r:embed="rId3"/>
          <a:stretch>
            <a:fillRect/>
          </a:stretch>
        </p:blipFill>
        <p:spPr>
          <a:xfrm>
            <a:off x="1917522" y="3069214"/>
            <a:ext cx="14452955" cy="6405287"/>
          </a:xfrm>
          <a:prstGeom prst="rect">
            <a:avLst/>
          </a:prstGeom>
        </p:spPr>
      </p:pic>
    </p:spTree>
    <p:extLst>
      <p:ext uri="{BB962C8B-B14F-4D97-AF65-F5344CB8AC3E}">
        <p14:creationId xmlns:p14="http://schemas.microsoft.com/office/powerpoint/2010/main" val="86950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1A321-53C0-446C-D442-48D169220C34}"/>
              </a:ext>
            </a:extLst>
          </p:cNvPr>
          <p:cNvSpPr>
            <a:spLocks noGrp="1"/>
          </p:cNvSpPr>
          <p:nvPr>
            <p:ph type="title"/>
          </p:nvPr>
        </p:nvSpPr>
        <p:spPr>
          <a:xfrm>
            <a:off x="768096" y="673728"/>
            <a:ext cx="15773400" cy="775596"/>
          </a:xfrm>
        </p:spPr>
        <p:txBody>
          <a:bodyPr/>
          <a:lstStyle/>
          <a:p>
            <a:r>
              <a:rPr lang="en-US" dirty="0"/>
              <a:t>Recommendations &amp; Next Steps</a:t>
            </a:r>
          </a:p>
        </p:txBody>
      </p:sp>
      <p:sp>
        <p:nvSpPr>
          <p:cNvPr id="54" name="Text 3">
            <a:extLst>
              <a:ext uri="{FF2B5EF4-FFF2-40B4-BE49-F238E27FC236}">
                <a16:creationId xmlns:a16="http://schemas.microsoft.com/office/drawing/2014/main" id="{17A4889C-8A82-471F-A841-8E1A853E8BEF}"/>
              </a:ext>
            </a:extLst>
          </p:cNvPr>
          <p:cNvSpPr/>
          <p:nvPr/>
        </p:nvSpPr>
        <p:spPr>
          <a:xfrm>
            <a:off x="768096" y="841248"/>
            <a:ext cx="15544800" cy="1060704"/>
          </a:xfrm>
          <a:prstGeom prst="rect">
            <a:avLst/>
          </a:prstGeom>
          <a:noFill/>
          <a:ln/>
        </p:spPr>
        <p:txBody>
          <a:bodyPr wrap="square" lIns="0" tIns="0" rIns="0" bIns="0" rtlCol="0" anchor="ctr"/>
          <a:lstStyle/>
          <a:p>
            <a:endParaRPr lang="en-US" sz="4000" dirty="0"/>
          </a:p>
        </p:txBody>
      </p:sp>
      <p:sp>
        <p:nvSpPr>
          <p:cNvPr id="56" name="Text 5">
            <a:extLst>
              <a:ext uri="{FF2B5EF4-FFF2-40B4-BE49-F238E27FC236}">
                <a16:creationId xmlns:a16="http://schemas.microsoft.com/office/drawing/2014/main" id="{3FDF356C-D3FD-418C-B9A9-BCE912D2D72B}"/>
              </a:ext>
            </a:extLst>
          </p:cNvPr>
          <p:cNvSpPr/>
          <p:nvPr/>
        </p:nvSpPr>
        <p:spPr>
          <a:xfrm>
            <a:off x="16642080" y="493776"/>
            <a:ext cx="1097280" cy="1097280"/>
          </a:xfrm>
          <a:prstGeom prst="rect">
            <a:avLst/>
          </a:prstGeom>
          <a:noFill/>
          <a:ln/>
        </p:spPr>
        <p:txBody>
          <a:bodyPr wrap="square" lIns="0" tIns="0" rIns="0" bIns="0" rtlCol="0" anchor="ctr"/>
          <a:lstStyle/>
          <a:p>
            <a:pPr algn="ctr"/>
            <a:r>
              <a:rPr lang="en-US" sz="2800" b="1" dirty="0">
                <a:solidFill>
                  <a:srgbClr val="FFFFFF"/>
                </a:solidFill>
              </a:rPr>
              <a:t>7</a:t>
            </a:r>
            <a:endParaRPr lang="en-US" sz="2800" dirty="0"/>
          </a:p>
        </p:txBody>
      </p:sp>
      <p:sp>
        <p:nvSpPr>
          <p:cNvPr id="58" name="Text 7">
            <a:extLst>
              <a:ext uri="{FF2B5EF4-FFF2-40B4-BE49-F238E27FC236}">
                <a16:creationId xmlns:a16="http://schemas.microsoft.com/office/drawing/2014/main" id="{00396D88-5613-434A-94A7-84A021C89A58}"/>
              </a:ext>
            </a:extLst>
          </p:cNvPr>
          <p:cNvSpPr/>
          <p:nvPr/>
        </p:nvSpPr>
        <p:spPr>
          <a:xfrm>
            <a:off x="768096" y="9912096"/>
            <a:ext cx="17007840" cy="365760"/>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SAS® Curiosity Cup 2026  ·  Frontline Forecast  ·  University of North Texas</a:t>
            </a:r>
            <a:endParaRPr lang="en-US" sz="1600" dirty="0"/>
          </a:p>
        </p:txBody>
      </p:sp>
      <p:sp>
        <p:nvSpPr>
          <p:cNvPr id="59" name="Text 8">
            <a:extLst>
              <a:ext uri="{FF2B5EF4-FFF2-40B4-BE49-F238E27FC236}">
                <a16:creationId xmlns:a16="http://schemas.microsoft.com/office/drawing/2014/main" id="{610324C8-70F5-46DC-91AF-08E37842C8B4}"/>
              </a:ext>
            </a:extLst>
          </p:cNvPr>
          <p:cNvSpPr/>
          <p:nvPr/>
        </p:nvSpPr>
        <p:spPr>
          <a:xfrm>
            <a:off x="768096" y="1984248"/>
            <a:ext cx="8321040" cy="475488"/>
          </a:xfrm>
          <a:prstGeom prst="rect">
            <a:avLst/>
          </a:prstGeom>
          <a:noFill/>
          <a:ln/>
        </p:spPr>
        <p:txBody>
          <a:bodyPr wrap="square" lIns="0" tIns="0" rIns="0" bIns="0" rtlCol="0" anchor="ctr"/>
          <a:lstStyle/>
          <a:p>
            <a:r>
              <a:rPr lang="en-US" b="1" kern="0" spc="400" dirty="0">
                <a:solidFill>
                  <a:srgbClr val="0D7377"/>
                </a:solidFill>
                <a:latin typeface="Calibri" pitchFamily="34" charset="0"/>
                <a:ea typeface="Calibri" pitchFamily="34" charset="-122"/>
                <a:cs typeface="Calibri" pitchFamily="34" charset="-120"/>
              </a:rPr>
              <a:t>RECOMMENDATIONS</a:t>
            </a:r>
            <a:endParaRPr lang="en-US" dirty="0"/>
          </a:p>
        </p:txBody>
      </p:sp>
      <p:sp>
        <p:nvSpPr>
          <p:cNvPr id="60" name="Shape 9">
            <a:extLst>
              <a:ext uri="{FF2B5EF4-FFF2-40B4-BE49-F238E27FC236}">
                <a16:creationId xmlns:a16="http://schemas.microsoft.com/office/drawing/2014/main" id="{75963E61-644F-43C1-9769-5CC43117CC7B}"/>
              </a:ext>
            </a:extLst>
          </p:cNvPr>
          <p:cNvSpPr/>
          <p:nvPr/>
        </p:nvSpPr>
        <p:spPr>
          <a:xfrm>
            <a:off x="768096" y="2514600"/>
            <a:ext cx="8321040" cy="20116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61" name="Shape 10">
            <a:extLst>
              <a:ext uri="{FF2B5EF4-FFF2-40B4-BE49-F238E27FC236}">
                <a16:creationId xmlns:a16="http://schemas.microsoft.com/office/drawing/2014/main" id="{D001942B-B359-435D-8D16-69CEB1A0431B}"/>
              </a:ext>
            </a:extLst>
          </p:cNvPr>
          <p:cNvSpPr/>
          <p:nvPr/>
        </p:nvSpPr>
        <p:spPr>
          <a:xfrm>
            <a:off x="768096" y="2514600"/>
            <a:ext cx="950976" cy="2011680"/>
          </a:xfrm>
          <a:prstGeom prst="rect">
            <a:avLst/>
          </a:prstGeom>
          <a:solidFill>
            <a:srgbClr val="1B3A6B"/>
          </a:solidFill>
          <a:ln w="12700">
            <a:solidFill>
              <a:srgbClr val="1B3A6B"/>
            </a:solidFill>
            <a:prstDash val="solid"/>
          </a:ln>
        </p:spPr>
        <p:txBody>
          <a:bodyPr/>
          <a:lstStyle/>
          <a:p>
            <a:endParaRPr lang="en-US" sz="2400"/>
          </a:p>
        </p:txBody>
      </p:sp>
      <p:sp>
        <p:nvSpPr>
          <p:cNvPr id="62" name="Text 11">
            <a:extLst>
              <a:ext uri="{FF2B5EF4-FFF2-40B4-BE49-F238E27FC236}">
                <a16:creationId xmlns:a16="http://schemas.microsoft.com/office/drawing/2014/main" id="{BB9FEAAE-FD50-410A-B5F0-CC2FB731EE4A}"/>
              </a:ext>
            </a:extLst>
          </p:cNvPr>
          <p:cNvSpPr/>
          <p:nvPr/>
        </p:nvSpPr>
        <p:spPr>
          <a:xfrm>
            <a:off x="768096" y="2514600"/>
            <a:ext cx="950976" cy="2011680"/>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63" name="Text 12">
            <a:extLst>
              <a:ext uri="{FF2B5EF4-FFF2-40B4-BE49-F238E27FC236}">
                <a16:creationId xmlns:a16="http://schemas.microsoft.com/office/drawing/2014/main" id="{676E4369-B80E-4796-8171-3DF39655675D}"/>
              </a:ext>
            </a:extLst>
          </p:cNvPr>
          <p:cNvSpPr/>
          <p:nvPr/>
        </p:nvSpPr>
        <p:spPr>
          <a:xfrm>
            <a:off x="1865376" y="2660904"/>
            <a:ext cx="7059168"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Deploy LightGBM + Quantile Uncertainty</a:t>
            </a:r>
            <a:endParaRPr lang="en-US" sz="2400" dirty="0"/>
          </a:p>
        </p:txBody>
      </p:sp>
      <p:sp>
        <p:nvSpPr>
          <p:cNvPr id="64" name="Text 13">
            <a:extLst>
              <a:ext uri="{FF2B5EF4-FFF2-40B4-BE49-F238E27FC236}">
                <a16:creationId xmlns:a16="http://schemas.microsoft.com/office/drawing/2014/main" id="{229B31B8-C79A-4DE8-9FBC-713EAD98060E}"/>
              </a:ext>
            </a:extLst>
          </p:cNvPr>
          <p:cNvSpPr/>
          <p:nvPr/>
        </p:nvSpPr>
        <p:spPr>
          <a:xfrm>
            <a:off x="1865376" y="3282696"/>
            <a:ext cx="7059168" cy="1133856"/>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Predictive strength, calibrated uncertainty intervals, and scalable training make it ideal for operational deployment. Replace point-estimate LOS with P10–P90 bounds.</a:t>
            </a:r>
            <a:endParaRPr lang="en-US" sz="2400" dirty="0"/>
          </a:p>
        </p:txBody>
      </p:sp>
      <p:sp>
        <p:nvSpPr>
          <p:cNvPr id="65" name="Shape 14">
            <a:extLst>
              <a:ext uri="{FF2B5EF4-FFF2-40B4-BE49-F238E27FC236}">
                <a16:creationId xmlns:a16="http://schemas.microsoft.com/office/drawing/2014/main" id="{638E2E1A-71EF-4719-843F-65B276546A2E}"/>
              </a:ext>
            </a:extLst>
          </p:cNvPr>
          <p:cNvSpPr/>
          <p:nvPr/>
        </p:nvSpPr>
        <p:spPr>
          <a:xfrm>
            <a:off x="768096" y="4672584"/>
            <a:ext cx="8321040" cy="20116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66" name="Shape 15">
            <a:extLst>
              <a:ext uri="{FF2B5EF4-FFF2-40B4-BE49-F238E27FC236}">
                <a16:creationId xmlns:a16="http://schemas.microsoft.com/office/drawing/2014/main" id="{1C39EFC6-BF25-44D2-9241-C2B411E86030}"/>
              </a:ext>
            </a:extLst>
          </p:cNvPr>
          <p:cNvSpPr/>
          <p:nvPr/>
        </p:nvSpPr>
        <p:spPr>
          <a:xfrm>
            <a:off x="768096" y="4672584"/>
            <a:ext cx="950976" cy="2011680"/>
          </a:xfrm>
          <a:prstGeom prst="rect">
            <a:avLst/>
          </a:prstGeom>
          <a:solidFill>
            <a:srgbClr val="0D7377"/>
          </a:solidFill>
          <a:ln w="12700">
            <a:solidFill>
              <a:srgbClr val="0D7377"/>
            </a:solidFill>
            <a:prstDash val="solid"/>
          </a:ln>
        </p:spPr>
        <p:txBody>
          <a:bodyPr/>
          <a:lstStyle/>
          <a:p>
            <a:endParaRPr lang="en-US" sz="2400"/>
          </a:p>
        </p:txBody>
      </p:sp>
      <p:sp>
        <p:nvSpPr>
          <p:cNvPr id="67" name="Text 16">
            <a:extLst>
              <a:ext uri="{FF2B5EF4-FFF2-40B4-BE49-F238E27FC236}">
                <a16:creationId xmlns:a16="http://schemas.microsoft.com/office/drawing/2014/main" id="{2FCC5DE2-CFDE-435F-A45A-C8B3D0A7E087}"/>
              </a:ext>
            </a:extLst>
          </p:cNvPr>
          <p:cNvSpPr/>
          <p:nvPr/>
        </p:nvSpPr>
        <p:spPr>
          <a:xfrm>
            <a:off x="768096" y="4672584"/>
            <a:ext cx="950976" cy="2011680"/>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68" name="Text 17">
            <a:extLst>
              <a:ext uri="{FF2B5EF4-FFF2-40B4-BE49-F238E27FC236}">
                <a16:creationId xmlns:a16="http://schemas.microsoft.com/office/drawing/2014/main" id="{74160C75-B7EC-4369-AC19-31716E445444}"/>
              </a:ext>
            </a:extLst>
          </p:cNvPr>
          <p:cNvSpPr/>
          <p:nvPr/>
        </p:nvSpPr>
        <p:spPr>
          <a:xfrm>
            <a:off x="1865376" y="4818888"/>
            <a:ext cx="7059168"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Target High-Complexity Patients for Early Discharge</a:t>
            </a:r>
            <a:endParaRPr lang="en-US" sz="2400" dirty="0"/>
          </a:p>
        </p:txBody>
      </p:sp>
      <p:sp>
        <p:nvSpPr>
          <p:cNvPr id="69" name="Text 18">
            <a:extLst>
              <a:ext uri="{FF2B5EF4-FFF2-40B4-BE49-F238E27FC236}">
                <a16:creationId xmlns:a16="http://schemas.microsoft.com/office/drawing/2014/main" id="{AF016E52-5519-4850-97EB-D028C0F8AB8E}"/>
              </a:ext>
            </a:extLst>
          </p:cNvPr>
          <p:cNvSpPr/>
          <p:nvPr/>
        </p:nvSpPr>
        <p:spPr>
          <a:xfrm>
            <a:off x="1865376" y="5440680"/>
            <a:ext cx="7059168" cy="1133856"/>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Focus proactive coordination on patients with high medication burden and lab intensity. Simulation confirms even 10% early discharge yields 4–5% peak demand relief.</a:t>
            </a:r>
            <a:endParaRPr lang="en-US" sz="2400" dirty="0"/>
          </a:p>
        </p:txBody>
      </p:sp>
      <p:sp>
        <p:nvSpPr>
          <p:cNvPr id="70" name="Shape 19">
            <a:extLst>
              <a:ext uri="{FF2B5EF4-FFF2-40B4-BE49-F238E27FC236}">
                <a16:creationId xmlns:a16="http://schemas.microsoft.com/office/drawing/2014/main" id="{4F0F636C-D90C-4C8C-A387-03FBABB0B260}"/>
              </a:ext>
            </a:extLst>
          </p:cNvPr>
          <p:cNvSpPr/>
          <p:nvPr/>
        </p:nvSpPr>
        <p:spPr>
          <a:xfrm>
            <a:off x="768096" y="6830568"/>
            <a:ext cx="8321040" cy="2011680"/>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71" name="Shape 20">
            <a:extLst>
              <a:ext uri="{FF2B5EF4-FFF2-40B4-BE49-F238E27FC236}">
                <a16:creationId xmlns:a16="http://schemas.microsoft.com/office/drawing/2014/main" id="{4A951360-8F3D-44D3-AE59-4B6BB114DF98}"/>
              </a:ext>
            </a:extLst>
          </p:cNvPr>
          <p:cNvSpPr/>
          <p:nvPr/>
        </p:nvSpPr>
        <p:spPr>
          <a:xfrm>
            <a:off x="768096" y="6830568"/>
            <a:ext cx="950976" cy="2011680"/>
          </a:xfrm>
          <a:prstGeom prst="rect">
            <a:avLst/>
          </a:prstGeom>
          <a:solidFill>
            <a:srgbClr val="14A09A"/>
          </a:solidFill>
          <a:ln w="12700">
            <a:solidFill>
              <a:srgbClr val="14A09A"/>
            </a:solidFill>
            <a:prstDash val="solid"/>
          </a:ln>
        </p:spPr>
        <p:txBody>
          <a:bodyPr/>
          <a:lstStyle/>
          <a:p>
            <a:endParaRPr lang="en-US" sz="2400"/>
          </a:p>
        </p:txBody>
      </p:sp>
      <p:sp>
        <p:nvSpPr>
          <p:cNvPr id="72" name="Text 21">
            <a:extLst>
              <a:ext uri="{FF2B5EF4-FFF2-40B4-BE49-F238E27FC236}">
                <a16:creationId xmlns:a16="http://schemas.microsoft.com/office/drawing/2014/main" id="{7487D888-3FE6-4E13-84AC-AE77C1958290}"/>
              </a:ext>
            </a:extLst>
          </p:cNvPr>
          <p:cNvSpPr/>
          <p:nvPr/>
        </p:nvSpPr>
        <p:spPr>
          <a:xfrm>
            <a:off x="768096" y="6830568"/>
            <a:ext cx="950976" cy="2011680"/>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3" name="Text 22">
            <a:extLst>
              <a:ext uri="{FF2B5EF4-FFF2-40B4-BE49-F238E27FC236}">
                <a16:creationId xmlns:a16="http://schemas.microsoft.com/office/drawing/2014/main" id="{129EF4AD-9B96-43F0-A242-88F57F1204EE}"/>
              </a:ext>
            </a:extLst>
          </p:cNvPr>
          <p:cNvSpPr/>
          <p:nvPr/>
        </p:nvSpPr>
        <p:spPr>
          <a:xfrm>
            <a:off x="1865376" y="6976872"/>
            <a:ext cx="7059168"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Integrate Bed Simulation into Daily Planning</a:t>
            </a:r>
            <a:endParaRPr lang="en-US" sz="2400" dirty="0"/>
          </a:p>
        </p:txBody>
      </p:sp>
      <p:sp>
        <p:nvSpPr>
          <p:cNvPr id="74" name="Text 23">
            <a:extLst>
              <a:ext uri="{FF2B5EF4-FFF2-40B4-BE49-F238E27FC236}">
                <a16:creationId xmlns:a16="http://schemas.microsoft.com/office/drawing/2014/main" id="{98CE1E6A-1A9B-4AE0-94E9-F0BB5A200BA2}"/>
              </a:ext>
            </a:extLst>
          </p:cNvPr>
          <p:cNvSpPr/>
          <p:nvPr/>
        </p:nvSpPr>
        <p:spPr>
          <a:xfrm>
            <a:off x="1865376" y="7598664"/>
            <a:ext cx="7059168" cy="1133856"/>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Use the 30-day rolling simulation for advance staffing decisions — high-demand periods can be identified days ahead, enabling proactive capacity preparation.</a:t>
            </a:r>
            <a:endParaRPr lang="en-US" sz="2400" dirty="0"/>
          </a:p>
        </p:txBody>
      </p:sp>
      <p:sp>
        <p:nvSpPr>
          <p:cNvPr id="75" name="Text 24">
            <a:extLst>
              <a:ext uri="{FF2B5EF4-FFF2-40B4-BE49-F238E27FC236}">
                <a16:creationId xmlns:a16="http://schemas.microsoft.com/office/drawing/2014/main" id="{A9C3B6BC-5414-449E-A345-BFE1085293CE}"/>
              </a:ext>
            </a:extLst>
          </p:cNvPr>
          <p:cNvSpPr/>
          <p:nvPr/>
        </p:nvSpPr>
        <p:spPr>
          <a:xfrm>
            <a:off x="9473184" y="1984248"/>
            <a:ext cx="8138160" cy="475488"/>
          </a:xfrm>
          <a:prstGeom prst="rect">
            <a:avLst/>
          </a:prstGeom>
          <a:noFill/>
          <a:ln/>
        </p:spPr>
        <p:txBody>
          <a:bodyPr wrap="square" lIns="0" tIns="0" rIns="0" bIns="0" rtlCol="0" anchor="ctr"/>
          <a:lstStyle/>
          <a:p>
            <a:r>
              <a:rPr lang="en-US" b="1" kern="0" spc="400" dirty="0">
                <a:solidFill>
                  <a:srgbClr val="0D7377"/>
                </a:solidFill>
                <a:latin typeface="Calibri" pitchFamily="34" charset="0"/>
                <a:ea typeface="Calibri" pitchFamily="34" charset="-122"/>
                <a:cs typeface="Calibri" pitchFamily="34" charset="-120"/>
              </a:rPr>
              <a:t>LIMITATIONS</a:t>
            </a:r>
            <a:endParaRPr lang="en-US" dirty="0"/>
          </a:p>
        </p:txBody>
      </p:sp>
      <p:sp>
        <p:nvSpPr>
          <p:cNvPr id="76" name="Shape 25">
            <a:extLst>
              <a:ext uri="{FF2B5EF4-FFF2-40B4-BE49-F238E27FC236}">
                <a16:creationId xmlns:a16="http://schemas.microsoft.com/office/drawing/2014/main" id="{FEAFE287-02F9-4B89-B21C-271955AC9717}"/>
              </a:ext>
            </a:extLst>
          </p:cNvPr>
          <p:cNvSpPr/>
          <p:nvPr/>
        </p:nvSpPr>
        <p:spPr>
          <a:xfrm>
            <a:off x="9473184" y="2514600"/>
            <a:ext cx="8138160" cy="2779776"/>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77" name="Text 26">
            <a:extLst>
              <a:ext uri="{FF2B5EF4-FFF2-40B4-BE49-F238E27FC236}">
                <a16:creationId xmlns:a16="http://schemas.microsoft.com/office/drawing/2014/main" id="{6546F08D-A209-4D56-91E5-DC8EB1A22DAF}"/>
              </a:ext>
            </a:extLst>
          </p:cNvPr>
          <p:cNvSpPr/>
          <p:nvPr/>
        </p:nvSpPr>
        <p:spPr>
          <a:xfrm>
            <a:off x="9692640" y="2624328"/>
            <a:ext cx="7754112" cy="585216"/>
          </a:xfrm>
          <a:prstGeom prst="rect">
            <a:avLst/>
          </a:prstGeom>
          <a:noFill/>
          <a:ln/>
        </p:spPr>
        <p:txBody>
          <a:bodyPr wrap="square" lIns="0" tIns="0" rIns="0" bIns="0" rtlCol="0" anchor="ctr"/>
          <a:lstStyle/>
          <a:p>
            <a:r>
              <a:rPr lang="en-US" sz="2400" b="1" dirty="0">
                <a:solidFill>
                  <a:srgbClr val="F59E0B"/>
                </a:solidFill>
                <a:latin typeface="Calibri" pitchFamily="34" charset="0"/>
                <a:ea typeface="Calibri" pitchFamily="34" charset="-122"/>
                <a:cs typeface="Calibri" pitchFamily="34" charset="-120"/>
              </a:rPr>
              <a:t>!  </a:t>
            </a:r>
            <a:r>
              <a:rPr lang="en-US" sz="2400" dirty="0">
                <a:solidFill>
                  <a:srgbClr val="1E293B"/>
                </a:solidFill>
                <a:latin typeface="Calibri" pitchFamily="34" charset="0"/>
                <a:ea typeface="Calibri" pitchFamily="34" charset="-122"/>
                <a:cs typeface="Calibri" pitchFamily="34" charset="-120"/>
              </a:rPr>
              <a:t>Poisson model not fully converged — metrics are a lower bound</a:t>
            </a:r>
            <a:endParaRPr lang="en-US" sz="2400" dirty="0"/>
          </a:p>
        </p:txBody>
      </p:sp>
      <p:sp>
        <p:nvSpPr>
          <p:cNvPr id="78" name="Text 27">
            <a:extLst>
              <a:ext uri="{FF2B5EF4-FFF2-40B4-BE49-F238E27FC236}">
                <a16:creationId xmlns:a16="http://schemas.microsoft.com/office/drawing/2014/main" id="{F79180BB-1F2C-4A5D-A31C-ED5B34623CDA}"/>
              </a:ext>
            </a:extLst>
          </p:cNvPr>
          <p:cNvSpPr/>
          <p:nvPr/>
        </p:nvSpPr>
        <p:spPr>
          <a:xfrm>
            <a:off x="9692640" y="3282696"/>
            <a:ext cx="7754112" cy="585216"/>
          </a:xfrm>
          <a:prstGeom prst="rect">
            <a:avLst/>
          </a:prstGeom>
          <a:noFill/>
          <a:ln/>
        </p:spPr>
        <p:txBody>
          <a:bodyPr wrap="square" lIns="0" tIns="0" rIns="0" bIns="0" rtlCol="0" anchor="ctr"/>
          <a:lstStyle/>
          <a:p>
            <a:r>
              <a:rPr lang="en-US" sz="2400" b="1" dirty="0">
                <a:solidFill>
                  <a:srgbClr val="F59E0B"/>
                </a:solidFill>
                <a:latin typeface="Calibri" pitchFamily="34" charset="0"/>
                <a:ea typeface="Calibri" pitchFamily="34" charset="-122"/>
                <a:cs typeface="Calibri" pitchFamily="34" charset="-120"/>
              </a:rPr>
              <a:t>!  </a:t>
            </a:r>
            <a:r>
              <a:rPr lang="en-US" sz="2400" dirty="0">
                <a:solidFill>
                  <a:srgbClr val="1E293B"/>
                </a:solidFill>
                <a:latin typeface="Calibri" pitchFamily="34" charset="0"/>
                <a:ea typeface="Calibri" pitchFamily="34" charset="-122"/>
                <a:cs typeface="Calibri" pitchFamily="34" charset="-120"/>
              </a:rPr>
              <a:t>Discharge-readiness proxy needs time-series EHR data for real deployment</a:t>
            </a:r>
            <a:endParaRPr lang="en-US" sz="2400" dirty="0"/>
          </a:p>
        </p:txBody>
      </p:sp>
      <p:sp>
        <p:nvSpPr>
          <p:cNvPr id="79" name="Text 28">
            <a:extLst>
              <a:ext uri="{FF2B5EF4-FFF2-40B4-BE49-F238E27FC236}">
                <a16:creationId xmlns:a16="http://schemas.microsoft.com/office/drawing/2014/main" id="{3EC367CB-1127-4681-A711-326CCB2533D9}"/>
              </a:ext>
            </a:extLst>
          </p:cNvPr>
          <p:cNvSpPr/>
          <p:nvPr/>
        </p:nvSpPr>
        <p:spPr>
          <a:xfrm>
            <a:off x="9692640" y="3941064"/>
            <a:ext cx="7754112" cy="585216"/>
          </a:xfrm>
          <a:prstGeom prst="rect">
            <a:avLst/>
          </a:prstGeom>
          <a:noFill/>
          <a:ln/>
        </p:spPr>
        <p:txBody>
          <a:bodyPr wrap="square" lIns="0" tIns="0" rIns="0" bIns="0" rtlCol="0" anchor="ctr"/>
          <a:lstStyle/>
          <a:p>
            <a:r>
              <a:rPr lang="en-US" sz="2400" b="1" dirty="0">
                <a:solidFill>
                  <a:srgbClr val="F59E0B"/>
                </a:solidFill>
                <a:latin typeface="Calibri" pitchFamily="34" charset="0"/>
                <a:ea typeface="Calibri" pitchFamily="34" charset="-122"/>
                <a:cs typeface="Calibri" pitchFamily="34" charset="-120"/>
              </a:rPr>
              <a:t>!  </a:t>
            </a:r>
            <a:r>
              <a:rPr lang="en-US" sz="2400" dirty="0">
                <a:solidFill>
                  <a:srgbClr val="1E293B"/>
                </a:solidFill>
                <a:latin typeface="Calibri" pitchFamily="34" charset="0"/>
                <a:ea typeface="Calibri" pitchFamily="34" charset="-122"/>
                <a:cs typeface="Calibri" pitchFamily="34" charset="-120"/>
              </a:rPr>
              <a:t>Single-dataset study — external validity across hospitals unconfirmed</a:t>
            </a:r>
            <a:endParaRPr lang="en-US" sz="2400" dirty="0"/>
          </a:p>
        </p:txBody>
      </p:sp>
      <p:sp>
        <p:nvSpPr>
          <p:cNvPr id="80" name="Text 29">
            <a:extLst>
              <a:ext uri="{FF2B5EF4-FFF2-40B4-BE49-F238E27FC236}">
                <a16:creationId xmlns:a16="http://schemas.microsoft.com/office/drawing/2014/main" id="{26132D0C-680A-428E-90CC-6FD78F80FA9A}"/>
              </a:ext>
            </a:extLst>
          </p:cNvPr>
          <p:cNvSpPr/>
          <p:nvPr/>
        </p:nvSpPr>
        <p:spPr>
          <a:xfrm>
            <a:off x="9692640" y="4599432"/>
            <a:ext cx="7754112" cy="585216"/>
          </a:xfrm>
          <a:prstGeom prst="rect">
            <a:avLst/>
          </a:prstGeom>
          <a:noFill/>
          <a:ln/>
        </p:spPr>
        <p:txBody>
          <a:bodyPr wrap="square" lIns="0" tIns="0" rIns="0" bIns="0" rtlCol="0" anchor="ctr"/>
          <a:lstStyle/>
          <a:p>
            <a:r>
              <a:rPr lang="en-US" sz="2400" b="1" dirty="0">
                <a:solidFill>
                  <a:srgbClr val="F59E0B"/>
                </a:solidFill>
                <a:latin typeface="Calibri" pitchFamily="34" charset="0"/>
                <a:ea typeface="Calibri" pitchFamily="34" charset="-122"/>
                <a:cs typeface="Calibri" pitchFamily="34" charset="-120"/>
              </a:rPr>
              <a:t>!  </a:t>
            </a:r>
            <a:r>
              <a:rPr lang="en-US" sz="2400" dirty="0">
                <a:solidFill>
                  <a:srgbClr val="1E293B"/>
                </a:solidFill>
                <a:latin typeface="Calibri" pitchFamily="34" charset="0"/>
                <a:ea typeface="Calibri" pitchFamily="34" charset="-122"/>
                <a:cs typeface="Calibri" pitchFamily="34" charset="-120"/>
              </a:rPr>
              <a:t>Simulation assumes constant 50 daily arrivals; real demand varies</a:t>
            </a:r>
            <a:endParaRPr lang="en-US" sz="2400" dirty="0"/>
          </a:p>
        </p:txBody>
      </p:sp>
      <p:sp>
        <p:nvSpPr>
          <p:cNvPr id="81" name="Text 30">
            <a:extLst>
              <a:ext uri="{FF2B5EF4-FFF2-40B4-BE49-F238E27FC236}">
                <a16:creationId xmlns:a16="http://schemas.microsoft.com/office/drawing/2014/main" id="{5A4FF0A0-C067-4F0A-BA27-7C3991F5A048}"/>
              </a:ext>
            </a:extLst>
          </p:cNvPr>
          <p:cNvSpPr/>
          <p:nvPr/>
        </p:nvSpPr>
        <p:spPr>
          <a:xfrm>
            <a:off x="9473184" y="5495544"/>
            <a:ext cx="8138160" cy="475488"/>
          </a:xfrm>
          <a:prstGeom prst="rect">
            <a:avLst/>
          </a:prstGeom>
          <a:noFill/>
          <a:ln/>
        </p:spPr>
        <p:txBody>
          <a:bodyPr wrap="square" lIns="0" tIns="0" rIns="0" bIns="0" rtlCol="0" anchor="ctr"/>
          <a:lstStyle/>
          <a:p>
            <a:r>
              <a:rPr lang="en-US" b="1" kern="0" spc="400" dirty="0">
                <a:solidFill>
                  <a:srgbClr val="0D7377"/>
                </a:solidFill>
                <a:latin typeface="Calibri" pitchFamily="34" charset="0"/>
                <a:ea typeface="Calibri" pitchFamily="34" charset="-122"/>
                <a:cs typeface="Calibri" pitchFamily="34" charset="-120"/>
              </a:rPr>
              <a:t>FUTURE WORK</a:t>
            </a:r>
            <a:endParaRPr lang="en-US" dirty="0"/>
          </a:p>
        </p:txBody>
      </p:sp>
      <p:sp>
        <p:nvSpPr>
          <p:cNvPr id="82" name="Shape 31">
            <a:extLst>
              <a:ext uri="{FF2B5EF4-FFF2-40B4-BE49-F238E27FC236}">
                <a16:creationId xmlns:a16="http://schemas.microsoft.com/office/drawing/2014/main" id="{80F3DCEE-9D23-45A0-8C93-F469B8DB230D}"/>
              </a:ext>
            </a:extLst>
          </p:cNvPr>
          <p:cNvSpPr/>
          <p:nvPr/>
        </p:nvSpPr>
        <p:spPr>
          <a:xfrm>
            <a:off x="9473184" y="6044184"/>
            <a:ext cx="3931920" cy="1609344"/>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83" name="Shape 32">
            <a:extLst>
              <a:ext uri="{FF2B5EF4-FFF2-40B4-BE49-F238E27FC236}">
                <a16:creationId xmlns:a16="http://schemas.microsoft.com/office/drawing/2014/main" id="{C63A8607-04C8-4F07-A47E-EBF060AA30DD}"/>
              </a:ext>
            </a:extLst>
          </p:cNvPr>
          <p:cNvSpPr/>
          <p:nvPr/>
        </p:nvSpPr>
        <p:spPr>
          <a:xfrm>
            <a:off x="9473184" y="6044184"/>
            <a:ext cx="694944" cy="1609344"/>
          </a:xfrm>
          <a:prstGeom prst="rect">
            <a:avLst/>
          </a:prstGeom>
          <a:solidFill>
            <a:srgbClr val="1B3A6B"/>
          </a:solidFill>
          <a:ln w="12700">
            <a:solidFill>
              <a:srgbClr val="1B3A6B"/>
            </a:solidFill>
            <a:prstDash val="solid"/>
          </a:ln>
        </p:spPr>
        <p:txBody>
          <a:bodyPr/>
          <a:lstStyle/>
          <a:p>
            <a:endParaRPr lang="en-US" sz="2400"/>
          </a:p>
        </p:txBody>
      </p:sp>
      <p:sp>
        <p:nvSpPr>
          <p:cNvPr id="84" name="Text 33">
            <a:extLst>
              <a:ext uri="{FF2B5EF4-FFF2-40B4-BE49-F238E27FC236}">
                <a16:creationId xmlns:a16="http://schemas.microsoft.com/office/drawing/2014/main" id="{F0BB62AA-D306-4DDF-BD04-FAC5ADCA3255}"/>
              </a:ext>
            </a:extLst>
          </p:cNvPr>
          <p:cNvSpPr/>
          <p:nvPr/>
        </p:nvSpPr>
        <p:spPr>
          <a:xfrm>
            <a:off x="9473184" y="6044184"/>
            <a:ext cx="694944" cy="1609344"/>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85" name="Text 34">
            <a:extLst>
              <a:ext uri="{FF2B5EF4-FFF2-40B4-BE49-F238E27FC236}">
                <a16:creationId xmlns:a16="http://schemas.microsoft.com/office/drawing/2014/main" id="{88F5E081-6B65-4482-AC6D-181EB5027788}"/>
              </a:ext>
            </a:extLst>
          </p:cNvPr>
          <p:cNvSpPr/>
          <p:nvPr/>
        </p:nvSpPr>
        <p:spPr>
          <a:xfrm>
            <a:off x="10296144" y="6190488"/>
            <a:ext cx="2999232"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Live EHR Integration</a:t>
            </a:r>
            <a:endParaRPr lang="en-US" sz="2400" dirty="0"/>
          </a:p>
        </p:txBody>
      </p:sp>
      <p:sp>
        <p:nvSpPr>
          <p:cNvPr id="86" name="Text 35">
            <a:extLst>
              <a:ext uri="{FF2B5EF4-FFF2-40B4-BE49-F238E27FC236}">
                <a16:creationId xmlns:a16="http://schemas.microsoft.com/office/drawing/2014/main" id="{8C14AA71-BBF3-4A8D-8DA8-33B1CE457DA6}"/>
              </a:ext>
            </a:extLst>
          </p:cNvPr>
          <p:cNvSpPr/>
          <p:nvPr/>
        </p:nvSpPr>
        <p:spPr>
          <a:xfrm>
            <a:off x="10296144" y="6848856"/>
            <a:ext cx="2999232" cy="658368"/>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Real-time hospital data streams</a:t>
            </a:r>
            <a:endParaRPr lang="en-US" sz="2400" dirty="0"/>
          </a:p>
        </p:txBody>
      </p:sp>
      <p:sp>
        <p:nvSpPr>
          <p:cNvPr id="87" name="Shape 36">
            <a:extLst>
              <a:ext uri="{FF2B5EF4-FFF2-40B4-BE49-F238E27FC236}">
                <a16:creationId xmlns:a16="http://schemas.microsoft.com/office/drawing/2014/main" id="{096C0C59-1D1F-4E29-96DF-8D8FD1C0437F}"/>
              </a:ext>
            </a:extLst>
          </p:cNvPr>
          <p:cNvSpPr/>
          <p:nvPr/>
        </p:nvSpPr>
        <p:spPr>
          <a:xfrm>
            <a:off x="13606272" y="6044184"/>
            <a:ext cx="3931920" cy="1609344"/>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88" name="Shape 37">
            <a:extLst>
              <a:ext uri="{FF2B5EF4-FFF2-40B4-BE49-F238E27FC236}">
                <a16:creationId xmlns:a16="http://schemas.microsoft.com/office/drawing/2014/main" id="{975809D0-1436-4982-86FC-8D51680A1FAC}"/>
              </a:ext>
            </a:extLst>
          </p:cNvPr>
          <p:cNvSpPr/>
          <p:nvPr/>
        </p:nvSpPr>
        <p:spPr>
          <a:xfrm>
            <a:off x="13606272" y="6044184"/>
            <a:ext cx="694944" cy="1609344"/>
          </a:xfrm>
          <a:prstGeom prst="rect">
            <a:avLst/>
          </a:prstGeom>
          <a:solidFill>
            <a:srgbClr val="0D7377"/>
          </a:solidFill>
          <a:ln w="12700">
            <a:solidFill>
              <a:srgbClr val="0D7377"/>
            </a:solidFill>
            <a:prstDash val="solid"/>
          </a:ln>
        </p:spPr>
        <p:txBody>
          <a:bodyPr/>
          <a:lstStyle/>
          <a:p>
            <a:endParaRPr lang="en-US" sz="2400"/>
          </a:p>
        </p:txBody>
      </p:sp>
      <p:sp>
        <p:nvSpPr>
          <p:cNvPr id="89" name="Text 38">
            <a:extLst>
              <a:ext uri="{FF2B5EF4-FFF2-40B4-BE49-F238E27FC236}">
                <a16:creationId xmlns:a16="http://schemas.microsoft.com/office/drawing/2014/main" id="{05572814-1A6B-45FB-B666-F4265996B7CF}"/>
              </a:ext>
            </a:extLst>
          </p:cNvPr>
          <p:cNvSpPr/>
          <p:nvPr/>
        </p:nvSpPr>
        <p:spPr>
          <a:xfrm>
            <a:off x="13606272" y="6044184"/>
            <a:ext cx="694944" cy="1609344"/>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90" name="Text 39">
            <a:extLst>
              <a:ext uri="{FF2B5EF4-FFF2-40B4-BE49-F238E27FC236}">
                <a16:creationId xmlns:a16="http://schemas.microsoft.com/office/drawing/2014/main" id="{772546DD-0E73-4DE8-8C58-0C1F6DA4F7E4}"/>
              </a:ext>
            </a:extLst>
          </p:cNvPr>
          <p:cNvSpPr/>
          <p:nvPr/>
        </p:nvSpPr>
        <p:spPr>
          <a:xfrm>
            <a:off x="14429232" y="6190488"/>
            <a:ext cx="2999232"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Multi-Hospital Validation</a:t>
            </a:r>
            <a:endParaRPr lang="en-US" sz="2400" dirty="0"/>
          </a:p>
        </p:txBody>
      </p:sp>
      <p:sp>
        <p:nvSpPr>
          <p:cNvPr id="91" name="Text 40">
            <a:extLst>
              <a:ext uri="{FF2B5EF4-FFF2-40B4-BE49-F238E27FC236}">
                <a16:creationId xmlns:a16="http://schemas.microsoft.com/office/drawing/2014/main" id="{D9F9DF4D-8B3E-4BA5-A782-31C8D1F0654C}"/>
              </a:ext>
            </a:extLst>
          </p:cNvPr>
          <p:cNvSpPr/>
          <p:nvPr/>
        </p:nvSpPr>
        <p:spPr>
          <a:xfrm>
            <a:off x="14429232" y="6848856"/>
            <a:ext cx="2999232" cy="658368"/>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Diverse patient populations</a:t>
            </a:r>
            <a:endParaRPr lang="en-US" sz="2400" dirty="0"/>
          </a:p>
        </p:txBody>
      </p:sp>
      <p:sp>
        <p:nvSpPr>
          <p:cNvPr id="92" name="Shape 41">
            <a:extLst>
              <a:ext uri="{FF2B5EF4-FFF2-40B4-BE49-F238E27FC236}">
                <a16:creationId xmlns:a16="http://schemas.microsoft.com/office/drawing/2014/main" id="{A40672AC-C979-43B8-A6E2-C77B21518141}"/>
              </a:ext>
            </a:extLst>
          </p:cNvPr>
          <p:cNvSpPr/>
          <p:nvPr/>
        </p:nvSpPr>
        <p:spPr>
          <a:xfrm>
            <a:off x="9473184" y="7836408"/>
            <a:ext cx="3931920" cy="1609344"/>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93" name="Shape 42">
            <a:extLst>
              <a:ext uri="{FF2B5EF4-FFF2-40B4-BE49-F238E27FC236}">
                <a16:creationId xmlns:a16="http://schemas.microsoft.com/office/drawing/2014/main" id="{CAC2D0BD-2FB8-4A3C-ADE2-B4DDC1A4DFAF}"/>
              </a:ext>
            </a:extLst>
          </p:cNvPr>
          <p:cNvSpPr/>
          <p:nvPr/>
        </p:nvSpPr>
        <p:spPr>
          <a:xfrm>
            <a:off x="9473184" y="7836408"/>
            <a:ext cx="694944" cy="1609344"/>
          </a:xfrm>
          <a:prstGeom prst="rect">
            <a:avLst/>
          </a:prstGeom>
          <a:solidFill>
            <a:srgbClr val="1B3A6B"/>
          </a:solidFill>
          <a:ln w="12700">
            <a:solidFill>
              <a:srgbClr val="1B3A6B"/>
            </a:solidFill>
            <a:prstDash val="solid"/>
          </a:ln>
        </p:spPr>
        <p:txBody>
          <a:bodyPr/>
          <a:lstStyle/>
          <a:p>
            <a:endParaRPr lang="en-US" sz="2400"/>
          </a:p>
        </p:txBody>
      </p:sp>
      <p:sp>
        <p:nvSpPr>
          <p:cNvPr id="94" name="Text 43">
            <a:extLst>
              <a:ext uri="{FF2B5EF4-FFF2-40B4-BE49-F238E27FC236}">
                <a16:creationId xmlns:a16="http://schemas.microsoft.com/office/drawing/2014/main" id="{5C05A060-F81F-463E-BE28-133F81BB9E67}"/>
              </a:ext>
            </a:extLst>
          </p:cNvPr>
          <p:cNvSpPr/>
          <p:nvPr/>
        </p:nvSpPr>
        <p:spPr>
          <a:xfrm>
            <a:off x="9473184" y="7836408"/>
            <a:ext cx="694944" cy="1609344"/>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95" name="Text 44">
            <a:extLst>
              <a:ext uri="{FF2B5EF4-FFF2-40B4-BE49-F238E27FC236}">
                <a16:creationId xmlns:a16="http://schemas.microsoft.com/office/drawing/2014/main" id="{2D07696B-9160-4331-B964-B294B915986B}"/>
              </a:ext>
            </a:extLst>
          </p:cNvPr>
          <p:cNvSpPr/>
          <p:nvPr/>
        </p:nvSpPr>
        <p:spPr>
          <a:xfrm>
            <a:off x="10296144" y="7982712"/>
            <a:ext cx="2999232"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Real-Time SAS Viya Dashboard</a:t>
            </a:r>
            <a:endParaRPr lang="en-US" sz="2400" dirty="0"/>
          </a:p>
        </p:txBody>
      </p:sp>
      <p:sp>
        <p:nvSpPr>
          <p:cNvPr id="96" name="Text 45">
            <a:extLst>
              <a:ext uri="{FF2B5EF4-FFF2-40B4-BE49-F238E27FC236}">
                <a16:creationId xmlns:a16="http://schemas.microsoft.com/office/drawing/2014/main" id="{FB91171D-ACB3-4014-8C89-79012D64B74F}"/>
              </a:ext>
            </a:extLst>
          </p:cNvPr>
          <p:cNvSpPr/>
          <p:nvPr/>
        </p:nvSpPr>
        <p:spPr>
          <a:xfrm>
            <a:off x="10296144" y="8641080"/>
            <a:ext cx="2999232" cy="658368"/>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Operational tool for bed managers</a:t>
            </a:r>
            <a:endParaRPr lang="en-US" sz="2400" dirty="0"/>
          </a:p>
        </p:txBody>
      </p:sp>
      <p:sp>
        <p:nvSpPr>
          <p:cNvPr id="97" name="Shape 46">
            <a:extLst>
              <a:ext uri="{FF2B5EF4-FFF2-40B4-BE49-F238E27FC236}">
                <a16:creationId xmlns:a16="http://schemas.microsoft.com/office/drawing/2014/main" id="{48283C6D-74D6-4611-869D-8987CB137566}"/>
              </a:ext>
            </a:extLst>
          </p:cNvPr>
          <p:cNvSpPr/>
          <p:nvPr/>
        </p:nvSpPr>
        <p:spPr>
          <a:xfrm>
            <a:off x="13606272" y="7836408"/>
            <a:ext cx="3931920" cy="1609344"/>
          </a:xfrm>
          <a:prstGeom prst="rect">
            <a:avLst/>
          </a:prstGeom>
          <a:solidFill>
            <a:srgbClr val="FFFFFF"/>
          </a:solidFill>
          <a:ln w="12700">
            <a:solidFill>
              <a:srgbClr val="CBD5E1"/>
            </a:solidFill>
            <a:prstDash val="solid"/>
          </a:ln>
          <a:effectLst>
            <a:outerShdw blurRad="101600" dist="38100" dir="8100000" algn="bl" rotWithShape="0">
              <a:srgbClr val="000000">
                <a:alpha val="10000"/>
              </a:srgbClr>
            </a:outerShdw>
          </a:effectLst>
        </p:spPr>
        <p:txBody>
          <a:bodyPr/>
          <a:lstStyle/>
          <a:p>
            <a:endParaRPr lang="en-US" sz="2400"/>
          </a:p>
        </p:txBody>
      </p:sp>
      <p:sp>
        <p:nvSpPr>
          <p:cNvPr id="98" name="Shape 47">
            <a:extLst>
              <a:ext uri="{FF2B5EF4-FFF2-40B4-BE49-F238E27FC236}">
                <a16:creationId xmlns:a16="http://schemas.microsoft.com/office/drawing/2014/main" id="{CDF5A80F-7C26-4D49-9D27-907A67DCE821}"/>
              </a:ext>
            </a:extLst>
          </p:cNvPr>
          <p:cNvSpPr/>
          <p:nvPr/>
        </p:nvSpPr>
        <p:spPr>
          <a:xfrm>
            <a:off x="13606272" y="7836408"/>
            <a:ext cx="694944" cy="1609344"/>
          </a:xfrm>
          <a:prstGeom prst="rect">
            <a:avLst/>
          </a:prstGeom>
          <a:solidFill>
            <a:srgbClr val="0D7377"/>
          </a:solidFill>
          <a:ln w="12700">
            <a:solidFill>
              <a:srgbClr val="0D7377"/>
            </a:solidFill>
            <a:prstDash val="solid"/>
          </a:ln>
        </p:spPr>
        <p:txBody>
          <a:bodyPr/>
          <a:lstStyle/>
          <a:p>
            <a:endParaRPr lang="en-US" sz="2400"/>
          </a:p>
        </p:txBody>
      </p:sp>
      <p:sp>
        <p:nvSpPr>
          <p:cNvPr id="99" name="Text 48">
            <a:extLst>
              <a:ext uri="{FF2B5EF4-FFF2-40B4-BE49-F238E27FC236}">
                <a16:creationId xmlns:a16="http://schemas.microsoft.com/office/drawing/2014/main" id="{4C0F36CE-810F-44BB-8502-27B352D16784}"/>
              </a:ext>
            </a:extLst>
          </p:cNvPr>
          <p:cNvSpPr/>
          <p:nvPr/>
        </p:nvSpPr>
        <p:spPr>
          <a:xfrm>
            <a:off x="13606272" y="7836408"/>
            <a:ext cx="694944" cy="1609344"/>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100" name="Text 49">
            <a:extLst>
              <a:ext uri="{FF2B5EF4-FFF2-40B4-BE49-F238E27FC236}">
                <a16:creationId xmlns:a16="http://schemas.microsoft.com/office/drawing/2014/main" id="{FA60360C-76B3-458D-910B-EEB276D4AC4B}"/>
              </a:ext>
            </a:extLst>
          </p:cNvPr>
          <p:cNvSpPr/>
          <p:nvPr/>
        </p:nvSpPr>
        <p:spPr>
          <a:xfrm>
            <a:off x="14429232" y="7982712"/>
            <a:ext cx="2999232" cy="585216"/>
          </a:xfrm>
          <a:prstGeom prst="rect">
            <a:avLst/>
          </a:prstGeom>
          <a:noFill/>
          <a:ln/>
        </p:spPr>
        <p:txBody>
          <a:bodyPr wrap="square" lIns="0" tIns="0" rIns="0" bIns="0" rtlCol="0" anchor="ctr"/>
          <a:lstStyle/>
          <a:p>
            <a:r>
              <a:rPr lang="en-US" sz="2400" b="1" dirty="0">
                <a:solidFill>
                  <a:srgbClr val="1E293B"/>
                </a:solidFill>
                <a:latin typeface="Calibri" pitchFamily="34" charset="0"/>
                <a:ea typeface="Calibri" pitchFamily="34" charset="-122"/>
                <a:cs typeface="Calibri" pitchFamily="34" charset="-120"/>
              </a:rPr>
              <a:t>Sequential Discharge Modeling</a:t>
            </a:r>
            <a:endParaRPr lang="en-US" sz="2400" dirty="0"/>
          </a:p>
        </p:txBody>
      </p:sp>
      <p:sp>
        <p:nvSpPr>
          <p:cNvPr id="101" name="Text 50">
            <a:extLst>
              <a:ext uri="{FF2B5EF4-FFF2-40B4-BE49-F238E27FC236}">
                <a16:creationId xmlns:a16="http://schemas.microsoft.com/office/drawing/2014/main" id="{04613C00-5B3B-4E55-9C87-7D7592B839C0}"/>
              </a:ext>
            </a:extLst>
          </p:cNvPr>
          <p:cNvSpPr/>
          <p:nvPr/>
        </p:nvSpPr>
        <p:spPr>
          <a:xfrm>
            <a:off x="14429232" y="8641080"/>
            <a:ext cx="2999232" cy="658368"/>
          </a:xfrm>
          <a:prstGeom prst="rect">
            <a:avLst/>
          </a:prstGeom>
          <a:noFill/>
          <a:ln/>
        </p:spPr>
        <p:txBody>
          <a:bodyPr wrap="square" lIns="0" tIns="0" rIns="0" bIns="0" rtlCol="0" anchor="ctr"/>
          <a:lstStyle/>
          <a:p>
            <a:r>
              <a:rPr lang="en-US" sz="2400" dirty="0">
                <a:solidFill>
                  <a:srgbClr val="64748B"/>
                </a:solidFill>
                <a:latin typeface="Calibri" pitchFamily="34" charset="0"/>
                <a:ea typeface="Calibri" pitchFamily="34" charset="-122"/>
                <a:cs typeface="Calibri" pitchFamily="34" charset="-120"/>
              </a:rPr>
              <a:t>Time-series EHR for next-day forecasts</a:t>
            </a:r>
            <a:endParaRPr lang="en-US" sz="2400" dirty="0"/>
          </a:p>
        </p:txBody>
      </p:sp>
    </p:spTree>
    <p:extLst>
      <p:ext uri="{BB962C8B-B14F-4D97-AF65-F5344CB8AC3E}">
        <p14:creationId xmlns:p14="http://schemas.microsoft.com/office/powerpoint/2010/main" val="2811312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DA7E7DD-46E4-40F8-9DC6-8C0CF96FE296}"/>
              </a:ext>
            </a:extLst>
          </p:cNvPr>
          <p:cNvSpPr>
            <a:spLocks noGrp="1"/>
          </p:cNvSpPr>
          <p:nvPr>
            <p:ph type="title"/>
          </p:nvPr>
        </p:nvSpPr>
        <p:spPr>
          <a:xfrm>
            <a:off x="1252433" y="4305441"/>
            <a:ext cx="13063134" cy="1292662"/>
          </a:xfrm>
        </p:spPr>
        <p:txBody>
          <a:bodyPr/>
          <a:lstStyle/>
          <a:p>
            <a:r>
              <a:rPr lang="en-US" dirty="0"/>
              <a:t>Thank you</a:t>
            </a:r>
          </a:p>
        </p:txBody>
      </p:sp>
      <p:sp>
        <p:nvSpPr>
          <p:cNvPr id="7" name="Text Placeholder 6">
            <a:extLst>
              <a:ext uri="{FF2B5EF4-FFF2-40B4-BE49-F238E27FC236}">
                <a16:creationId xmlns:a16="http://schemas.microsoft.com/office/drawing/2014/main" id="{DE2B04D2-C02F-2DCF-8CD1-6476889CD622}"/>
              </a:ext>
            </a:extLst>
          </p:cNvPr>
          <p:cNvSpPr>
            <a:spLocks noGrp="1"/>
          </p:cNvSpPr>
          <p:nvPr>
            <p:ph type="body" sz="quarter" idx="11"/>
          </p:nvPr>
        </p:nvSpPr>
        <p:spPr/>
        <p:txBody>
          <a:bodyPr/>
          <a:lstStyle/>
          <a:p>
            <a:r>
              <a:rPr lang="en-US" dirty="0">
                <a:solidFill>
                  <a:srgbClr val="A8C8E8"/>
                </a:solidFill>
                <a:latin typeface="Calibri" pitchFamily="34" charset="0"/>
                <a:ea typeface="Calibri" pitchFamily="34" charset="-122"/>
                <a:cs typeface="Calibri" pitchFamily="34" charset="-120"/>
              </a:rPr>
              <a:t>Hoang Thanh </a:t>
            </a:r>
            <a:r>
              <a:rPr lang="en-US">
                <a:solidFill>
                  <a:srgbClr val="A8C8E8"/>
                </a:solidFill>
                <a:latin typeface="Calibri" pitchFamily="34" charset="0"/>
                <a:ea typeface="Calibri" pitchFamily="34" charset="-122"/>
                <a:cs typeface="Calibri" pitchFamily="34" charset="-120"/>
              </a:rPr>
              <a:t>Ngan Dau (Kate)  </a:t>
            </a:r>
            <a:r>
              <a:rPr lang="en-US" dirty="0">
                <a:solidFill>
                  <a:srgbClr val="A8C8E8"/>
                </a:solidFill>
                <a:latin typeface="Calibri" pitchFamily="34" charset="0"/>
                <a:ea typeface="Calibri" pitchFamily="34" charset="-122"/>
                <a:cs typeface="Calibri" pitchFamily="34" charset="-120"/>
              </a:rPr>
              <a:t>·  NganDau2@my.unt.edu</a:t>
            </a:r>
            <a:endParaRPr lang="en-US" dirty="0"/>
          </a:p>
          <a:p>
            <a:r>
              <a:rPr lang="en-US" dirty="0" err="1">
                <a:solidFill>
                  <a:srgbClr val="A8C8E8"/>
                </a:solidFill>
                <a:latin typeface="Calibri" pitchFamily="34" charset="0"/>
                <a:ea typeface="Calibri" pitchFamily="34" charset="-122"/>
                <a:cs typeface="Calibri" pitchFamily="34" charset="-120"/>
              </a:rPr>
              <a:t>Aarya</a:t>
            </a:r>
            <a:r>
              <a:rPr lang="en-US" dirty="0">
                <a:solidFill>
                  <a:srgbClr val="A8C8E8"/>
                </a:solidFill>
                <a:latin typeface="Calibri" pitchFamily="34" charset="0"/>
                <a:ea typeface="Calibri" pitchFamily="34" charset="-122"/>
                <a:cs typeface="Calibri" pitchFamily="34" charset="-120"/>
              </a:rPr>
              <a:t> Acharya  ·  AaryaAcharya@my.unt.edu</a:t>
            </a:r>
            <a:endParaRPr lang="en-US" dirty="0"/>
          </a:p>
          <a:p>
            <a:r>
              <a:rPr lang="en-US" dirty="0" err="1">
                <a:solidFill>
                  <a:srgbClr val="A8C8E8"/>
                </a:solidFill>
                <a:latin typeface="Calibri" pitchFamily="34" charset="0"/>
                <a:ea typeface="Calibri" pitchFamily="34" charset="-122"/>
                <a:cs typeface="Calibri" pitchFamily="34" charset="-120"/>
              </a:rPr>
              <a:t>Sakeet</a:t>
            </a:r>
            <a:r>
              <a:rPr lang="en-US" dirty="0">
                <a:solidFill>
                  <a:srgbClr val="A8C8E8"/>
                </a:solidFill>
                <a:latin typeface="Calibri" pitchFamily="34" charset="0"/>
                <a:ea typeface="Calibri" pitchFamily="34" charset="-122"/>
                <a:cs typeface="Calibri" pitchFamily="34" charset="-120"/>
              </a:rPr>
              <a:t> </a:t>
            </a:r>
            <a:r>
              <a:rPr lang="en-US" dirty="0" err="1">
                <a:solidFill>
                  <a:srgbClr val="A8C8E8"/>
                </a:solidFill>
                <a:latin typeface="Calibri" pitchFamily="34" charset="0"/>
                <a:ea typeface="Calibri" pitchFamily="34" charset="-122"/>
                <a:cs typeface="Calibri" pitchFamily="34" charset="-120"/>
              </a:rPr>
              <a:t>Kopparapu</a:t>
            </a:r>
            <a:r>
              <a:rPr lang="en-US" dirty="0">
                <a:solidFill>
                  <a:srgbClr val="A8C8E8"/>
                </a:solidFill>
                <a:latin typeface="Calibri" pitchFamily="34" charset="0"/>
                <a:ea typeface="Calibri" pitchFamily="34" charset="-122"/>
                <a:cs typeface="Calibri" pitchFamily="34" charset="-120"/>
              </a:rPr>
              <a:t>  ·  SakeetKopparapu@my.unt.edu</a:t>
            </a:r>
            <a:endParaRPr lang="en-US" dirty="0"/>
          </a:p>
          <a:p>
            <a:r>
              <a:rPr lang="en-US" dirty="0" err="1">
                <a:solidFill>
                  <a:srgbClr val="A8C8E8"/>
                </a:solidFill>
                <a:latin typeface="Calibri" pitchFamily="34" charset="0"/>
                <a:ea typeface="Calibri" pitchFamily="34" charset="-122"/>
                <a:cs typeface="Calibri" pitchFamily="34" charset="-120"/>
              </a:rPr>
              <a:t>Sulav</a:t>
            </a:r>
            <a:r>
              <a:rPr lang="en-US" dirty="0">
                <a:solidFill>
                  <a:srgbClr val="A8C8E8"/>
                </a:solidFill>
                <a:latin typeface="Calibri" pitchFamily="34" charset="0"/>
                <a:ea typeface="Calibri" pitchFamily="34" charset="-122"/>
                <a:cs typeface="Calibri" pitchFamily="34" charset="-120"/>
              </a:rPr>
              <a:t> </a:t>
            </a:r>
            <a:r>
              <a:rPr lang="en-US" dirty="0" err="1">
                <a:solidFill>
                  <a:srgbClr val="A8C8E8"/>
                </a:solidFill>
                <a:latin typeface="Calibri" pitchFamily="34" charset="0"/>
                <a:ea typeface="Calibri" pitchFamily="34" charset="-122"/>
                <a:cs typeface="Calibri" pitchFamily="34" charset="-120"/>
              </a:rPr>
              <a:t>Regmi</a:t>
            </a:r>
            <a:r>
              <a:rPr lang="en-US" dirty="0">
                <a:solidFill>
                  <a:srgbClr val="A8C8E8"/>
                </a:solidFill>
                <a:latin typeface="Calibri" pitchFamily="34" charset="0"/>
                <a:ea typeface="Calibri" pitchFamily="34" charset="-122"/>
                <a:cs typeface="Calibri" pitchFamily="34" charset="-120"/>
              </a:rPr>
              <a:t>  ·  SulavRegmi@my.unt.edu</a:t>
            </a:r>
            <a:endParaRPr lang="en-US" dirty="0"/>
          </a:p>
          <a:p>
            <a:endParaRPr lang="en-US" dirty="0"/>
          </a:p>
        </p:txBody>
      </p:sp>
    </p:spTree>
    <p:custDataLst>
      <p:tags r:id="rId1"/>
    </p:custDataLst>
    <p:extLst>
      <p:ext uri="{BB962C8B-B14F-4D97-AF65-F5344CB8AC3E}">
        <p14:creationId xmlns:p14="http://schemas.microsoft.com/office/powerpoint/2010/main" val="1751081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2025_Innovate_InternalUse_PowerPoint.potx" id="{8CCBECEE-D770-487F-A0BF-642EB7DEFC0D}" vid="{9DE6A0F2-A504-4A0D-9C9E-D201064AD549}"/>
    </a:ext>
  </a:extLst>
</a:theme>
</file>

<file path=ppt/theme/theme2.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ateCompleted xmlns="474e9b53-7120-4c6a-9ff0-5d0ee99e8fa3" xsi:nil="true"/>
    <TaxCatchAll xmlns="a6f2ae38-7a66-45e7-9e41-c52c9bd1ae4b" xsi:nil="true"/>
    <lcf76f155ced4ddcb4097134ff3c332f xmlns="474e9b53-7120-4c6a-9ff0-5d0ee99e8fa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12247B6AEE6824EBA5A81E62E743BF4" ma:contentTypeVersion="20" ma:contentTypeDescription="Create a new document." ma:contentTypeScope="" ma:versionID="333f6c7ef09d581933c69a7432dc8087">
  <xsd:schema xmlns:xsd="http://www.w3.org/2001/XMLSchema" xmlns:xs="http://www.w3.org/2001/XMLSchema" xmlns:p="http://schemas.microsoft.com/office/2006/metadata/properties" xmlns:ns2="474e9b53-7120-4c6a-9ff0-5d0ee99e8fa3" xmlns:ns3="a6f2ae38-7a66-45e7-9e41-c52c9bd1ae4b" targetNamespace="http://schemas.microsoft.com/office/2006/metadata/properties" ma:root="true" ma:fieldsID="8653ffe9b5c9204cb2dba7ba78a8aaae" ns2:_="" ns3:_="">
    <xsd:import namespace="474e9b53-7120-4c6a-9ff0-5d0ee99e8fa3"/>
    <xsd:import namespace="a6f2ae38-7a66-45e7-9e41-c52c9bd1ae4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DateCompleted"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4e9b53-7120-4c6a-9ff0-5d0ee99e8f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DateCompleted" ma:index="21" nillable="true" ma:displayName="Date Completed" ma:format="DateOnly" ma:internalName="DateCompleted">
      <xsd:simpleType>
        <xsd:restriction base="dms:DateTim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7fd0e135-c9ac-4e89-9c36-fb2929ad0f0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6f2ae38-7a66-45e7-9e41-c52c9bd1ae4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66f315d8-cd88-4412-8523-0235389ab0ab}" ma:internalName="TaxCatchAll" ma:showField="CatchAllData" ma:web="a6f2ae38-7a66-45e7-9e41-c52c9bd1ae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E2663518-7548-4643-8219-608BFF0DFA0C}">
  <ds:schemaRefs>
    <ds:schemaRef ds:uri="http://schemas.microsoft.com/office/infopath/2007/PartnerControls"/>
    <ds:schemaRef ds:uri="http://purl.org/dc/elements/1.1/"/>
    <ds:schemaRef ds:uri="474e9b53-7120-4c6a-9ff0-5d0ee99e8fa3"/>
    <ds:schemaRef ds:uri="http://schemas.microsoft.com/office/2006/metadata/properties"/>
    <ds:schemaRef ds:uri="a6f2ae38-7a66-45e7-9e41-c52c9bd1ae4b"/>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0D27D8DB-B37C-4478-9A74-C6AF512918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4e9b53-7120-4c6a-9ff0-5d0ee99e8fa3"/>
    <ds:schemaRef ds:uri="a6f2ae38-7a66-45e7-9e41-c52c9bd1ae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7f4b8a2-ad4f-41b5-9a91-284d2cc38f56}" enabled="1" method="Standard" siteId="{70de1992-07c6-480f-a318-a1afcba03983}" contentBits="0" removed="0"/>
  <clbl:label id="{b1c14d5c-3625-45b3-a430-9552373a0c2f}" enabled="0" method="" siteId="{b1c14d5c-3625-45b3-a430-9552373a0c2f}" removed="1"/>
</clbl:labelList>
</file>

<file path=docProps/app.xml><?xml version="1.0" encoding="utf-8"?>
<Properties xmlns="http://schemas.openxmlformats.org/officeDocument/2006/extended-properties" xmlns:vt="http://schemas.openxmlformats.org/officeDocument/2006/docPropsVTypes">
  <Template>2025_Innovate_InternalUse_PowerPoint</Template>
  <TotalTime>3249</TotalTime>
  <Words>2307</Words>
  <Application>Microsoft Office PowerPoint</Application>
  <PresentationFormat>Custom</PresentationFormat>
  <Paragraphs>217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Arial</vt:lpstr>
      <vt:lpstr>Wingdings</vt:lpstr>
      <vt:lpstr>Anova Bold</vt:lpstr>
      <vt:lpstr>Anova Light</vt:lpstr>
      <vt:lpstr>SAS - EXTERNAL</vt:lpstr>
      <vt:lpstr>Frontline Forecast</vt:lpstr>
      <vt:lpstr>Introduction &amp; Problem Statement</vt:lpstr>
      <vt:lpstr>Data &amp; Analytical Approach</vt:lpstr>
      <vt:lpstr>Key Results</vt:lpstr>
      <vt:lpstr>Key Results</vt:lpstr>
      <vt:lpstr>Key Results</vt:lpstr>
      <vt:lpstr>Key Results</vt:lpstr>
      <vt:lpstr>Key Results</vt:lpstr>
      <vt:lpstr>Insights &amp; Conclusions</vt:lpstr>
      <vt:lpstr>Insights &amp; Conclusions</vt:lpstr>
      <vt:lpstr>Insights &amp; Conclusions</vt:lpstr>
      <vt:lpstr>Recommendations &amp;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Frontline Forecast</dc:title>
  <dc:creator>Frontline Forecast</dc:creator>
  <cp:lastModifiedBy>Kate Dau</cp:lastModifiedBy>
  <cp:revision>39</cp:revision>
  <dcterms:created xsi:type="dcterms:W3CDTF">2024-09-12T18:37:43Z</dcterms:created>
  <dcterms:modified xsi:type="dcterms:W3CDTF">2026-04-24T00:48:53Z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0x010100512247B6AEE6824EBA5A81E62E743BF4</vt:lpwstr>
  </property>
  <property fmtid="{D5CDD505-2E9C-101B-9397-08002B2CF9AE}" pid="5" name="MediaServiceImageTags">
    <vt:lpwstr/>
  </property>
</Properties>
</file>